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6858000" type="screen4x3"/>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a:tcStyle>
        <a:tcBdr/>
        <a:fill>
          <a:solidFill>
            <a:srgbClr val="E8ECF4"/>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a:tcStyle>
        <a:tcBdr/>
        <a:fill>
          <a:solidFill>
            <a:srgbClr val="EFF3E9"/>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a:tcStyle>
        <a:tcBdr/>
        <a:fill>
          <a:solidFill>
            <a:srgbClr val="FDEEE8"/>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Arial"/>
          <a:ea typeface="Arial"/>
          <a:cs typeface="Arial"/>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rial"/>
          <a:ea typeface="Arial"/>
          <a:cs typeface="Arial"/>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24"/>
  </p:normalViewPr>
  <p:slideViewPr>
    <p:cSldViewPr snapToGrid="0">
      <p:cViewPr varScale="1">
        <p:scale>
          <a:sx n="102" d="100"/>
          <a:sy n="102" d="100"/>
        </p:scale>
        <p:origin x="201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10" name="Shape 310"/>
          <p:cNvSpPr>
            <a:spLocks noGrp="1" noRot="1" noChangeAspect="1"/>
          </p:cNvSpPr>
          <p:nvPr>
            <p:ph type="sldImg"/>
          </p:nvPr>
        </p:nvSpPr>
        <p:spPr>
          <a:xfrm>
            <a:off x="1143000" y="685800"/>
            <a:ext cx="4572000" cy="3429000"/>
          </a:xfrm>
          <a:prstGeom prst="rect">
            <a:avLst/>
          </a:prstGeom>
        </p:spPr>
        <p:txBody>
          <a:bodyPr/>
          <a:lstStyle/>
          <a:p>
            <a:endParaRPr/>
          </a:p>
        </p:txBody>
      </p:sp>
      <p:sp>
        <p:nvSpPr>
          <p:cNvPr id="311" name="Shape 311"/>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Shape 317"/>
          <p:cNvSpPr>
            <a:spLocks noGrp="1" noRot="1" noChangeAspect="1"/>
          </p:cNvSpPr>
          <p:nvPr>
            <p:ph type="sldImg"/>
          </p:nvPr>
        </p:nvSpPr>
        <p:spPr>
          <a:prstGeom prst="rect">
            <a:avLst/>
          </a:prstGeom>
        </p:spPr>
        <p:txBody>
          <a:bodyPr/>
          <a:lstStyle/>
          <a:p>
            <a:endParaRPr/>
          </a:p>
        </p:txBody>
      </p:sp>
      <p:sp>
        <p:nvSpPr>
          <p:cNvPr id="318" name="Shape 318"/>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The objective of this study is to analyze how microservices handle data consistency and system failures. I also compare different architectural strategies and identify research gaps in current approaches.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 name="Shape 322"/>
          <p:cNvSpPr>
            <a:spLocks noGrp="1" noRot="1" noChangeAspect="1"/>
          </p:cNvSpPr>
          <p:nvPr>
            <p:ph type="sldImg"/>
          </p:nvPr>
        </p:nvSpPr>
        <p:spPr>
          <a:prstGeom prst="rect">
            <a:avLst/>
          </a:prstGeom>
        </p:spPr>
        <p:txBody>
          <a:bodyPr/>
          <a:lstStyle/>
          <a:p>
            <a:endParaRPr/>
          </a:p>
        </p:txBody>
      </p:sp>
      <p:sp>
        <p:nvSpPr>
          <p:cNvPr id="323" name="Shape 323"/>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Microservices architecture breaks applications into small independent services. This improves scalability and flexibility, but because everything is distributed, managing data and failures becomes much more complex.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Shape 327"/>
          <p:cNvSpPr>
            <a:spLocks noGrp="1" noRot="1" noChangeAspect="1"/>
          </p:cNvSpPr>
          <p:nvPr>
            <p:ph type="sldImg"/>
          </p:nvPr>
        </p:nvSpPr>
        <p:spPr>
          <a:prstGeom prst="rect">
            <a:avLst/>
          </a:prstGeom>
        </p:spPr>
        <p:txBody>
          <a:bodyPr/>
          <a:lstStyle/>
          <a:p>
            <a:endParaRPr/>
          </a:p>
        </p:txBody>
      </p:sp>
      <p:sp>
        <p:nvSpPr>
          <p:cNvPr id="328" name="Shape 328"/>
          <p:cNvSpPr>
            <a:spLocks noGrp="1"/>
          </p:cNvSpPr>
          <p:nvPr>
            <p:ph type="body" sz="quarter" idx="1"/>
          </p:nvPr>
        </p:nvSpPr>
        <p:spPr>
          <a:prstGeom prst="rect">
            <a:avLst/>
          </a:prstGeom>
        </p:spPr>
        <p:txBody>
          <a:bodyPr/>
          <a:lstStyle/>
          <a:p>
            <a:r>
              <a:t>T</a:t>
            </a:r>
            <a:r>
              <a:rPr>
                <a:solidFill>
                  <a:srgbClr val="FFFFFF"/>
                </a:solidFill>
                <a:latin typeface="-webkit-standard"/>
                <a:ea typeface="-webkit-standard"/>
                <a:cs typeface="-webkit-standard"/>
                <a:sym typeface="-webkit-standard"/>
              </a:rPr>
              <a:t>he main problem is that there is no centralized control. So maintaining consistent data across services is difficult. At the same time, failures like network issues or service crashes are unavoidable, leading to trade-offs between consistency, availability, and fault tolerance.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Shape 332"/>
          <p:cNvSpPr>
            <a:spLocks noGrp="1" noRot="1" noChangeAspect="1"/>
          </p:cNvSpPr>
          <p:nvPr>
            <p:ph type="sldImg"/>
          </p:nvPr>
        </p:nvSpPr>
        <p:spPr>
          <a:prstGeom prst="rect">
            <a:avLst/>
          </a:prstGeom>
        </p:spPr>
        <p:txBody>
          <a:bodyPr/>
          <a:lstStyle/>
          <a:p>
            <a:endParaRPr/>
          </a:p>
        </p:txBody>
      </p:sp>
      <p:sp>
        <p:nvSpPr>
          <p:cNvPr id="333" name="Shape 333"/>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To address this, I used a Systematic Literature Review approach, analyzing research papers from 2016 to 2026 across major academic data sources.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Shape 337"/>
          <p:cNvSpPr>
            <a:spLocks noGrp="1" noRot="1" noChangeAspect="1"/>
          </p:cNvSpPr>
          <p:nvPr>
            <p:ph type="sldImg"/>
          </p:nvPr>
        </p:nvSpPr>
        <p:spPr>
          <a:prstGeom prst="rect">
            <a:avLst/>
          </a:prstGeom>
        </p:spPr>
        <p:txBody>
          <a:bodyPr/>
          <a:lstStyle/>
          <a:p>
            <a:endParaRPr/>
          </a:p>
        </p:txBody>
      </p:sp>
      <p:sp>
        <p:nvSpPr>
          <p:cNvPr id="338" name="Shape 338"/>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In microservices, strong consistency reduces scalability. So most systems adopt eventual consistency, where temporary inconsistencies are allowed but resolved over time.(example serve a is edited , the to view edits in service b takes few sec/sometime mins)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2" name="Shape 342"/>
          <p:cNvSpPr>
            <a:spLocks noGrp="1" noRot="1" noChangeAspect="1"/>
          </p:cNvSpPr>
          <p:nvPr>
            <p:ph type="sldImg"/>
          </p:nvPr>
        </p:nvSpPr>
        <p:spPr>
          <a:prstGeom prst="rect">
            <a:avLst/>
          </a:prstGeom>
        </p:spPr>
        <p:txBody>
          <a:bodyPr/>
          <a:lstStyle/>
          <a:p>
            <a:endParaRPr/>
          </a:p>
        </p:txBody>
      </p:sp>
      <p:sp>
        <p:nvSpPr>
          <p:cNvPr id="343" name="Shape 343"/>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Traditional Two-Phase Commit ensures consistency but blocks the system during failures. Saga pattern is more practical as it breaks transactions into smaller steps and uses compensating actions.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7" name="Shape 347"/>
          <p:cNvSpPr>
            <a:spLocks noGrp="1" noRot="1" noChangeAspect="1"/>
          </p:cNvSpPr>
          <p:nvPr>
            <p:ph type="sldImg"/>
          </p:nvPr>
        </p:nvSpPr>
        <p:spPr>
          <a:prstGeom prst="rect">
            <a:avLst/>
          </a:prstGeom>
        </p:spPr>
        <p:txBody>
          <a:bodyPr/>
          <a:lstStyle/>
          <a:p>
            <a:endParaRPr/>
          </a:p>
        </p:txBody>
      </p:sp>
      <p:sp>
        <p:nvSpPr>
          <p:cNvPr id="348" name="Shape 348"/>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Failures in microservices are often partial, meaning some services fail while others continue. This can lead to cascading failures if not handled properly.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Shape 352"/>
          <p:cNvSpPr>
            <a:spLocks noGrp="1" noRot="1" noChangeAspect="1"/>
          </p:cNvSpPr>
          <p:nvPr>
            <p:ph type="sldImg"/>
          </p:nvPr>
        </p:nvSpPr>
        <p:spPr>
          <a:prstGeom prst="rect">
            <a:avLst/>
          </a:prstGeom>
        </p:spPr>
        <p:txBody>
          <a:bodyPr/>
          <a:lstStyle/>
          <a:p>
            <a:endParaRPr/>
          </a:p>
        </p:txBody>
      </p:sp>
      <p:sp>
        <p:nvSpPr>
          <p:cNvPr id="353" name="Shape 353"/>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To handle failures, systems use design patterns like circuit breakers, retries, and replication. These prevent failures from spreading and improve system reliability.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9" name="Shape 359"/>
          <p:cNvSpPr>
            <a:spLocks noGrp="1" noRot="1" noChangeAspect="1"/>
          </p:cNvSpPr>
          <p:nvPr>
            <p:ph type="sldImg"/>
          </p:nvPr>
        </p:nvSpPr>
        <p:spPr>
          <a:prstGeom prst="rect">
            <a:avLst/>
          </a:prstGeom>
        </p:spPr>
        <p:txBody>
          <a:bodyPr/>
          <a:lstStyle/>
          <a:p>
            <a:endParaRPr/>
          </a:p>
        </p:txBody>
      </p:sp>
      <p:sp>
        <p:nvSpPr>
          <p:cNvPr id="360" name="Shape 360"/>
          <p:cNvSpPr>
            <a:spLocks noGrp="1"/>
          </p:cNvSpPr>
          <p:nvPr>
            <p:ph type="body" sz="quarter" idx="1"/>
          </p:nvPr>
        </p:nvSpPr>
        <p:spPr>
          <a:prstGeom prst="rect">
            <a:avLst/>
          </a:prstGeom>
        </p:spPr>
        <p:txBody>
          <a:bodyPr/>
          <a:lstStyle/>
          <a:p>
            <a:pPr>
              <a:defRPr>
                <a:latin typeface="-webkit-standard"/>
                <a:ea typeface="-webkit-standard"/>
                <a:cs typeface="-webkit-standard"/>
                <a:sym typeface="-webkit-standard"/>
              </a:defRPr>
            </a:pPr>
            <a:r>
              <a:t>This slide shows the main trade-offs.</a:t>
            </a:r>
            <a:br/>
            <a:r>
              <a:t>Strong consistency keeps data correct all the time, but it slows things down.</a:t>
            </a:r>
          </a:p>
          <a:p>
            <a:pPr>
              <a:defRPr>
                <a:latin typeface="-webkit-standard"/>
                <a:ea typeface="-webkit-standard"/>
                <a:cs typeface="-webkit-standard"/>
                <a:sym typeface="-webkit-standard"/>
              </a:defRPr>
            </a:pPr>
            <a:r>
              <a:t>Eventual consistency is faster and more scalable, but data can be temporarily inconsistent.</a:t>
            </a:r>
            <a:br/>
            <a:r>
              <a:t>Two-Phase Commit is reliable but not practical in distributed systems, while Saga is more flexible but a bit complex.</a:t>
            </a:r>
            <a:br/>
            <a:r>
              <a:t>For handling failures, retries are simple but can make things worse, circuit breakers help stop failures from spreading, and replication improves availability but uses more resources.</a:t>
            </a:r>
            <a:br/>
            <a:r>
              <a:t>So overall, there’s no perfect solution — systems usually combine different approaches based on their needs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Shape 364"/>
          <p:cNvSpPr>
            <a:spLocks noGrp="1" noRot="1" noChangeAspect="1"/>
          </p:cNvSpPr>
          <p:nvPr>
            <p:ph type="sldImg"/>
          </p:nvPr>
        </p:nvSpPr>
        <p:spPr>
          <a:prstGeom prst="rect">
            <a:avLst/>
          </a:prstGeom>
        </p:spPr>
        <p:txBody>
          <a:bodyPr/>
          <a:lstStyle/>
          <a:p>
            <a:endParaRPr/>
          </a:p>
        </p:txBody>
      </p:sp>
      <p:sp>
        <p:nvSpPr>
          <p:cNvPr id="365" name="Shape 365"/>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The key finding is that no single approach works best. Systems must balance trade-offs, and combining multiple techniques gives better results.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Shape 369"/>
          <p:cNvSpPr>
            <a:spLocks noGrp="1" noRot="1" noChangeAspect="1"/>
          </p:cNvSpPr>
          <p:nvPr>
            <p:ph type="sldImg"/>
          </p:nvPr>
        </p:nvSpPr>
        <p:spPr>
          <a:prstGeom prst="rect">
            <a:avLst/>
          </a:prstGeom>
        </p:spPr>
        <p:txBody>
          <a:bodyPr/>
          <a:lstStyle/>
          <a:p>
            <a:endParaRPr/>
          </a:p>
        </p:txBody>
      </p:sp>
      <p:sp>
        <p:nvSpPr>
          <p:cNvPr id="370" name="Shape 370"/>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In conclusion, microservices provide scalability but introduce complexity. Maintaining consistency and fault tolerance requires careful design, and decisions depend on system requirements.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Shape 374"/>
          <p:cNvSpPr>
            <a:spLocks noGrp="1" noRot="1" noChangeAspect="1"/>
          </p:cNvSpPr>
          <p:nvPr>
            <p:ph type="sldImg"/>
          </p:nvPr>
        </p:nvSpPr>
        <p:spPr>
          <a:prstGeom prst="rect">
            <a:avLst/>
          </a:prstGeom>
        </p:spPr>
        <p:txBody>
          <a:bodyPr/>
          <a:lstStyle/>
          <a:p>
            <a:endParaRPr/>
          </a:p>
        </p:txBody>
      </p:sp>
      <p:sp>
        <p:nvSpPr>
          <p:cNvPr id="375" name="Shape 375"/>
          <p:cNvSpPr>
            <a:spLocks noGrp="1"/>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r>
              <a:t>Future work can focus on developing standard evaluation frameworks, improving real-world validation, and using AI for fault prediction and self-healing systems.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x">
  <p:cSld name="Blank Slide">
    <p:spTree>
      <p:nvGrpSpPr>
        <p:cNvPr id="1" name=""/>
        <p:cNvGrpSpPr/>
        <p:nvPr/>
      </p:nvGrpSpPr>
      <p:grpSpPr>
        <a:xfrm>
          <a:off x="0" y="0"/>
          <a:ext cx="0" cy="0"/>
          <a:chOff x="0" y="0"/>
          <a:chExt cx="0" cy="0"/>
        </a:xfrm>
      </p:grpSpPr>
      <p:sp>
        <p:nvSpPr>
          <p:cNvPr id="2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Slide">
    <p:spTree>
      <p:nvGrpSpPr>
        <p:cNvPr id="1" name=""/>
        <p:cNvGrpSpPr/>
        <p:nvPr/>
      </p:nvGrpSpPr>
      <p:grpSpPr>
        <a:xfrm>
          <a:off x="0" y="0"/>
          <a:ext cx="0" cy="0"/>
          <a:chOff x="0" y="0"/>
          <a:chExt cx="0" cy="0"/>
        </a:xfrm>
      </p:grpSpPr>
      <p:sp>
        <p:nvSpPr>
          <p:cNvPr id="33"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34"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35"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36"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40" name="Group 3"/>
          <p:cNvGrpSpPr/>
          <p:nvPr/>
        </p:nvGrpSpPr>
        <p:grpSpPr>
          <a:xfrm>
            <a:off x="6146639" y="0"/>
            <a:ext cx="2997001" cy="875880"/>
            <a:chOff x="0" y="0"/>
            <a:chExt cx="2997000" cy="875878"/>
          </a:xfrm>
        </p:grpSpPr>
        <p:sp>
          <p:nvSpPr>
            <p:cNvPr id="37"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38"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39"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41"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42"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46" name="Group 6"/>
          <p:cNvGrpSpPr/>
          <p:nvPr/>
        </p:nvGrpSpPr>
        <p:grpSpPr>
          <a:xfrm>
            <a:off x="6146639" y="0"/>
            <a:ext cx="2997001" cy="875880"/>
            <a:chOff x="0" y="0"/>
            <a:chExt cx="2997000" cy="875878"/>
          </a:xfrm>
        </p:grpSpPr>
        <p:sp>
          <p:nvSpPr>
            <p:cNvPr id="43"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44"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45"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47"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48"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49" name="Body Level One…"/>
          <p:cNvSpPr txBox="1">
            <a:spLocks noGrp="1"/>
          </p:cNvSpPr>
          <p:nvPr>
            <p:ph type="body" idx="1"/>
          </p:nvPr>
        </p:nvSpPr>
        <p:spPr>
          <a:xfrm>
            <a:off x="457200" y="1604519"/>
            <a:ext cx="8229241" cy="3977282"/>
          </a:xfrm>
          <a:prstGeom prst="rect">
            <a:avLst/>
          </a:prstGeom>
        </p:spPr>
        <p:txBody>
          <a:bodyPr lIns="0" tIns="0" rIns="0" bIns="0" anchor="ctr">
            <a:normAutofit/>
          </a:bodyPr>
          <a:lstStyle/>
          <a:p>
            <a:r>
              <a:t>Body Level One</a:t>
            </a:r>
          </a:p>
          <a:p>
            <a:pPr lvl="1"/>
            <a:r>
              <a:t>Body Level Two</a:t>
            </a:r>
          </a:p>
          <a:p>
            <a:pPr lvl="2"/>
            <a:r>
              <a:t>Body Level Three</a:t>
            </a:r>
          </a:p>
          <a:p>
            <a:pPr lvl="3"/>
            <a:r>
              <a:t>Body Level Four</a:t>
            </a:r>
          </a:p>
          <a:p>
            <a:pPr lvl="4"/>
            <a:r>
              <a:t>Body Level Five</a:t>
            </a:r>
          </a:p>
        </p:txBody>
      </p:sp>
      <p:sp>
        <p:nvSpPr>
          <p:cNvPr id="5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Title, Content">
    <p:spTree>
      <p:nvGrpSpPr>
        <p:cNvPr id="1" name=""/>
        <p:cNvGrpSpPr/>
        <p:nvPr/>
      </p:nvGrpSpPr>
      <p:grpSpPr>
        <a:xfrm>
          <a:off x="0" y="0"/>
          <a:ext cx="0" cy="0"/>
          <a:chOff x="0" y="0"/>
          <a:chExt cx="0" cy="0"/>
        </a:xfrm>
      </p:grpSpPr>
      <p:sp>
        <p:nvSpPr>
          <p:cNvPr id="57"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58"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59"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60"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64" name="Group 3"/>
          <p:cNvGrpSpPr/>
          <p:nvPr/>
        </p:nvGrpSpPr>
        <p:grpSpPr>
          <a:xfrm>
            <a:off x="6146639" y="0"/>
            <a:ext cx="2997001" cy="875880"/>
            <a:chOff x="0" y="0"/>
            <a:chExt cx="2997000" cy="875878"/>
          </a:xfrm>
        </p:grpSpPr>
        <p:sp>
          <p:nvSpPr>
            <p:cNvPr id="61"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62"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63"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65"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66"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70" name="Group 6"/>
          <p:cNvGrpSpPr/>
          <p:nvPr/>
        </p:nvGrpSpPr>
        <p:grpSpPr>
          <a:xfrm>
            <a:off x="6146639" y="0"/>
            <a:ext cx="2997001" cy="875880"/>
            <a:chOff x="0" y="0"/>
            <a:chExt cx="2997000" cy="875878"/>
          </a:xfrm>
        </p:grpSpPr>
        <p:sp>
          <p:nvSpPr>
            <p:cNvPr id="67"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68"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69"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71"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72"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73" name="Body Level One…"/>
          <p:cNvSpPr txBox="1">
            <a:spLocks noGrp="1"/>
          </p:cNvSpPr>
          <p:nvPr>
            <p:ph type="body" idx="1"/>
          </p:nvPr>
        </p:nvSpPr>
        <p:spPr>
          <a:xfrm>
            <a:off x="457200" y="1604519"/>
            <a:ext cx="8229241" cy="397728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7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itle, 2 Content">
    <p:spTree>
      <p:nvGrpSpPr>
        <p:cNvPr id="1" name=""/>
        <p:cNvGrpSpPr/>
        <p:nvPr/>
      </p:nvGrpSpPr>
      <p:grpSpPr>
        <a:xfrm>
          <a:off x="0" y="0"/>
          <a:ext cx="0" cy="0"/>
          <a:chOff x="0" y="0"/>
          <a:chExt cx="0" cy="0"/>
        </a:xfrm>
      </p:grpSpPr>
      <p:sp>
        <p:nvSpPr>
          <p:cNvPr id="81"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82"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83"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84"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88" name="Group 3"/>
          <p:cNvGrpSpPr/>
          <p:nvPr/>
        </p:nvGrpSpPr>
        <p:grpSpPr>
          <a:xfrm>
            <a:off x="6146639" y="0"/>
            <a:ext cx="2997001" cy="875880"/>
            <a:chOff x="0" y="0"/>
            <a:chExt cx="2997000" cy="875878"/>
          </a:xfrm>
        </p:grpSpPr>
        <p:sp>
          <p:nvSpPr>
            <p:cNvPr id="85"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86"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87"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89"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90"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94" name="Group 6"/>
          <p:cNvGrpSpPr/>
          <p:nvPr/>
        </p:nvGrpSpPr>
        <p:grpSpPr>
          <a:xfrm>
            <a:off x="6146639" y="0"/>
            <a:ext cx="2997001" cy="875880"/>
            <a:chOff x="0" y="0"/>
            <a:chExt cx="2997000" cy="875878"/>
          </a:xfrm>
        </p:grpSpPr>
        <p:sp>
          <p:nvSpPr>
            <p:cNvPr id="91"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92"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93"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95"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96"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97" name="Body Level One…"/>
          <p:cNvSpPr txBox="1">
            <a:spLocks noGrp="1"/>
          </p:cNvSpPr>
          <p:nvPr>
            <p:ph type="body" sz="half" idx="1"/>
          </p:nvPr>
        </p:nvSpPr>
        <p:spPr>
          <a:xfrm>
            <a:off x="457200" y="1604519"/>
            <a:ext cx="4015800" cy="397728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98" name="PlaceHolder 3"/>
          <p:cNvSpPr>
            <a:spLocks noGrp="1"/>
          </p:cNvSpPr>
          <p:nvPr>
            <p:ph type="body" sz="half" idx="21"/>
          </p:nvPr>
        </p:nvSpPr>
        <p:spPr>
          <a:xfrm>
            <a:off x="4674239" y="1604519"/>
            <a:ext cx="4015800" cy="3977281"/>
          </a:xfrm>
          <a:prstGeom prst="rect">
            <a:avLst/>
          </a:prstGeom>
        </p:spPr>
        <p:txBody>
          <a:bodyPr lIns="0" tIns="0" rIns="0" bIns="0">
            <a:normAutofit/>
          </a:bodyPr>
          <a:lstStyle/>
          <a:p>
            <a:pPr>
              <a:defRPr spc="-100"/>
            </a:pPr>
            <a:endParaRPr/>
          </a:p>
        </p:txBody>
      </p:sp>
      <p:sp>
        <p:nvSpPr>
          <p:cNvPr id="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Title Only">
    <p:spTree>
      <p:nvGrpSpPr>
        <p:cNvPr id="1" name=""/>
        <p:cNvGrpSpPr/>
        <p:nvPr/>
      </p:nvGrpSpPr>
      <p:grpSpPr>
        <a:xfrm>
          <a:off x="0" y="0"/>
          <a:ext cx="0" cy="0"/>
          <a:chOff x="0" y="0"/>
          <a:chExt cx="0" cy="0"/>
        </a:xfrm>
      </p:grpSpPr>
      <p:sp>
        <p:nvSpPr>
          <p:cNvPr id="106"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107"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108"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109"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13" name="Group 3"/>
          <p:cNvGrpSpPr/>
          <p:nvPr/>
        </p:nvGrpSpPr>
        <p:grpSpPr>
          <a:xfrm>
            <a:off x="6146639" y="0"/>
            <a:ext cx="2997001" cy="875880"/>
            <a:chOff x="0" y="0"/>
            <a:chExt cx="2997000" cy="875878"/>
          </a:xfrm>
        </p:grpSpPr>
        <p:sp>
          <p:nvSpPr>
            <p:cNvPr id="110"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11"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12"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14"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115"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19" name="Group 6"/>
          <p:cNvGrpSpPr/>
          <p:nvPr/>
        </p:nvGrpSpPr>
        <p:grpSpPr>
          <a:xfrm>
            <a:off x="6146639" y="0"/>
            <a:ext cx="2997001" cy="875880"/>
            <a:chOff x="0" y="0"/>
            <a:chExt cx="2997000" cy="875878"/>
          </a:xfrm>
        </p:grpSpPr>
        <p:sp>
          <p:nvSpPr>
            <p:cNvPr id="116"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17"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18"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20"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121"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12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entered Text">
    <p:spTree>
      <p:nvGrpSpPr>
        <p:cNvPr id="1" name=""/>
        <p:cNvGrpSpPr/>
        <p:nvPr/>
      </p:nvGrpSpPr>
      <p:grpSpPr>
        <a:xfrm>
          <a:off x="0" y="0"/>
          <a:ext cx="0" cy="0"/>
          <a:chOff x="0" y="0"/>
          <a:chExt cx="0" cy="0"/>
        </a:xfrm>
      </p:grpSpPr>
      <p:sp>
        <p:nvSpPr>
          <p:cNvPr id="129"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130"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131"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132"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36" name="Group 3"/>
          <p:cNvGrpSpPr/>
          <p:nvPr/>
        </p:nvGrpSpPr>
        <p:grpSpPr>
          <a:xfrm>
            <a:off x="6146639" y="0"/>
            <a:ext cx="2997001" cy="875880"/>
            <a:chOff x="0" y="0"/>
            <a:chExt cx="2997000" cy="875878"/>
          </a:xfrm>
        </p:grpSpPr>
        <p:sp>
          <p:nvSpPr>
            <p:cNvPr id="133"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34"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35"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37"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138"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42" name="Group 6"/>
          <p:cNvGrpSpPr/>
          <p:nvPr/>
        </p:nvGrpSpPr>
        <p:grpSpPr>
          <a:xfrm>
            <a:off x="6146639" y="0"/>
            <a:ext cx="2997001" cy="875880"/>
            <a:chOff x="0" y="0"/>
            <a:chExt cx="2997000" cy="875878"/>
          </a:xfrm>
        </p:grpSpPr>
        <p:sp>
          <p:nvSpPr>
            <p:cNvPr id="139"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40"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41"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43"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144" name="Body Level One…"/>
          <p:cNvSpPr txBox="1">
            <a:spLocks noGrp="1"/>
          </p:cNvSpPr>
          <p:nvPr>
            <p:ph type="body" sz="half" idx="1"/>
          </p:nvPr>
        </p:nvSpPr>
        <p:spPr>
          <a:xfrm>
            <a:off x="0" y="0"/>
            <a:ext cx="5486040" cy="4238281"/>
          </a:xfrm>
          <a:prstGeom prst="rect">
            <a:avLst/>
          </a:prstGeom>
        </p:spPr>
        <p:txBody>
          <a:bodyPr lIns="0" tIns="0" rIns="0" bIns="0" anchor="ctr">
            <a:normAutofit/>
          </a:bodyPr>
          <a:lstStyle/>
          <a:p>
            <a:r>
              <a:t>Body Level One</a:t>
            </a:r>
          </a:p>
          <a:p>
            <a:pPr lvl="1"/>
            <a:r>
              <a:t>Body Level Two</a:t>
            </a:r>
          </a:p>
          <a:p>
            <a:pPr lvl="2"/>
            <a:r>
              <a:t>Body Level Three</a:t>
            </a:r>
          </a:p>
          <a:p>
            <a:pPr lvl="3"/>
            <a:r>
              <a:t>Body Level Four</a:t>
            </a:r>
          </a:p>
          <a:p>
            <a:pPr lvl="4"/>
            <a:r>
              <a:t>Body Level Five</a:t>
            </a:r>
          </a:p>
        </p:txBody>
      </p:sp>
      <p:sp>
        <p:nvSpPr>
          <p:cNvPr id="1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Title, 2 Content and Content">
    <p:spTree>
      <p:nvGrpSpPr>
        <p:cNvPr id="1" name=""/>
        <p:cNvGrpSpPr/>
        <p:nvPr/>
      </p:nvGrpSpPr>
      <p:grpSpPr>
        <a:xfrm>
          <a:off x="0" y="0"/>
          <a:ext cx="0" cy="0"/>
          <a:chOff x="0" y="0"/>
          <a:chExt cx="0" cy="0"/>
        </a:xfrm>
      </p:grpSpPr>
      <p:sp>
        <p:nvSpPr>
          <p:cNvPr id="152"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153"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154"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155"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59" name="Group 3"/>
          <p:cNvGrpSpPr/>
          <p:nvPr/>
        </p:nvGrpSpPr>
        <p:grpSpPr>
          <a:xfrm>
            <a:off x="6146639" y="0"/>
            <a:ext cx="2997001" cy="875880"/>
            <a:chOff x="0" y="0"/>
            <a:chExt cx="2997000" cy="875878"/>
          </a:xfrm>
        </p:grpSpPr>
        <p:sp>
          <p:nvSpPr>
            <p:cNvPr id="15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57"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5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60"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161"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65" name="Group 6"/>
          <p:cNvGrpSpPr/>
          <p:nvPr/>
        </p:nvGrpSpPr>
        <p:grpSpPr>
          <a:xfrm>
            <a:off x="6146639" y="0"/>
            <a:ext cx="2997001" cy="875880"/>
            <a:chOff x="0" y="0"/>
            <a:chExt cx="2997000" cy="875878"/>
          </a:xfrm>
        </p:grpSpPr>
        <p:sp>
          <p:nvSpPr>
            <p:cNvPr id="16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63"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6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66"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167"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168" name="Body Level One…"/>
          <p:cNvSpPr txBox="1">
            <a:spLocks noGrp="1"/>
          </p:cNvSpPr>
          <p:nvPr>
            <p:ph type="body" sz="quarter" idx="1"/>
          </p:nvPr>
        </p:nvSpPr>
        <p:spPr>
          <a:xfrm>
            <a:off x="457200" y="1604519"/>
            <a:ext cx="4015800" cy="189684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169" name="PlaceHolder 3"/>
          <p:cNvSpPr/>
          <p:nvPr/>
        </p:nvSpPr>
        <p:spPr>
          <a:xfrm>
            <a:off x="4674239" y="1604519"/>
            <a:ext cx="4015800" cy="3977281"/>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170" name="PlaceHolder 4"/>
          <p:cNvSpPr>
            <a:spLocks noGrp="1"/>
          </p:cNvSpPr>
          <p:nvPr>
            <p:ph type="body" sz="quarter" idx="21"/>
          </p:nvPr>
        </p:nvSpPr>
        <p:spPr>
          <a:xfrm>
            <a:off x="457199" y="3682079"/>
            <a:ext cx="4015801" cy="1896841"/>
          </a:xfrm>
          <a:prstGeom prst="rect">
            <a:avLst/>
          </a:prstGeom>
        </p:spPr>
        <p:txBody>
          <a:bodyPr lIns="0" tIns="0" rIns="0" bIns="0">
            <a:normAutofit/>
          </a:bodyPr>
          <a:lstStyle/>
          <a:p>
            <a:pPr>
              <a:defRPr spc="-100"/>
            </a:pPr>
            <a:endParaRPr/>
          </a:p>
        </p:txBody>
      </p:sp>
      <p:sp>
        <p:nvSpPr>
          <p:cNvPr id="17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Content and 2 Content">
    <p:spTree>
      <p:nvGrpSpPr>
        <p:cNvPr id="1" name=""/>
        <p:cNvGrpSpPr/>
        <p:nvPr/>
      </p:nvGrpSpPr>
      <p:grpSpPr>
        <a:xfrm>
          <a:off x="0" y="0"/>
          <a:ext cx="0" cy="0"/>
          <a:chOff x="0" y="0"/>
          <a:chExt cx="0" cy="0"/>
        </a:xfrm>
      </p:grpSpPr>
      <p:sp>
        <p:nvSpPr>
          <p:cNvPr id="178"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179"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180"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181"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85" name="Group 3"/>
          <p:cNvGrpSpPr/>
          <p:nvPr/>
        </p:nvGrpSpPr>
        <p:grpSpPr>
          <a:xfrm>
            <a:off x="6146639" y="0"/>
            <a:ext cx="2997001" cy="875880"/>
            <a:chOff x="0" y="0"/>
            <a:chExt cx="2997000" cy="875878"/>
          </a:xfrm>
        </p:grpSpPr>
        <p:sp>
          <p:nvSpPr>
            <p:cNvPr id="182"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83"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84"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86"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187"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191" name="Group 6"/>
          <p:cNvGrpSpPr/>
          <p:nvPr/>
        </p:nvGrpSpPr>
        <p:grpSpPr>
          <a:xfrm>
            <a:off x="6146639" y="0"/>
            <a:ext cx="2997001" cy="875880"/>
            <a:chOff x="0" y="0"/>
            <a:chExt cx="2997000" cy="875878"/>
          </a:xfrm>
        </p:grpSpPr>
        <p:sp>
          <p:nvSpPr>
            <p:cNvPr id="188"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89"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190"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92"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193"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194" name="Body Level One…"/>
          <p:cNvSpPr txBox="1">
            <a:spLocks noGrp="1"/>
          </p:cNvSpPr>
          <p:nvPr>
            <p:ph type="body" sz="half" idx="1"/>
          </p:nvPr>
        </p:nvSpPr>
        <p:spPr>
          <a:xfrm>
            <a:off x="457200" y="1604519"/>
            <a:ext cx="4015800" cy="397728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195" name="PlaceHolder 3"/>
          <p:cNvSpPr/>
          <p:nvPr/>
        </p:nvSpPr>
        <p:spPr>
          <a:xfrm>
            <a:off x="4674239" y="1604519"/>
            <a:ext cx="4015800" cy="1896842"/>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196" name="PlaceHolder 4"/>
          <p:cNvSpPr>
            <a:spLocks noGrp="1"/>
          </p:cNvSpPr>
          <p:nvPr>
            <p:ph type="body" sz="quarter" idx="21"/>
          </p:nvPr>
        </p:nvSpPr>
        <p:spPr>
          <a:xfrm>
            <a:off x="4674239" y="3682079"/>
            <a:ext cx="4015800" cy="1896841"/>
          </a:xfrm>
          <a:prstGeom prst="rect">
            <a:avLst/>
          </a:prstGeom>
        </p:spPr>
        <p:txBody>
          <a:bodyPr lIns="0" tIns="0" rIns="0" bIns="0">
            <a:normAutofit/>
          </a:bodyPr>
          <a:lstStyle/>
          <a:p>
            <a:pPr>
              <a:defRPr spc="-100"/>
            </a:pPr>
            <a:endParaRPr/>
          </a:p>
        </p:txBody>
      </p:sp>
      <p:sp>
        <p:nvSpPr>
          <p:cNvPr id="19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2 Content over Content">
    <p:spTree>
      <p:nvGrpSpPr>
        <p:cNvPr id="1" name=""/>
        <p:cNvGrpSpPr/>
        <p:nvPr/>
      </p:nvGrpSpPr>
      <p:grpSpPr>
        <a:xfrm>
          <a:off x="0" y="0"/>
          <a:ext cx="0" cy="0"/>
          <a:chOff x="0" y="0"/>
          <a:chExt cx="0" cy="0"/>
        </a:xfrm>
      </p:grpSpPr>
      <p:sp>
        <p:nvSpPr>
          <p:cNvPr id="204"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205"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206"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207"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11" name="Group 3"/>
          <p:cNvGrpSpPr/>
          <p:nvPr/>
        </p:nvGrpSpPr>
        <p:grpSpPr>
          <a:xfrm>
            <a:off x="6146639" y="0"/>
            <a:ext cx="2997001" cy="875880"/>
            <a:chOff x="0" y="0"/>
            <a:chExt cx="2997000" cy="875878"/>
          </a:xfrm>
        </p:grpSpPr>
        <p:sp>
          <p:nvSpPr>
            <p:cNvPr id="208"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09"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10"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12"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213"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17" name="Group 6"/>
          <p:cNvGrpSpPr/>
          <p:nvPr/>
        </p:nvGrpSpPr>
        <p:grpSpPr>
          <a:xfrm>
            <a:off x="6146639" y="0"/>
            <a:ext cx="2997001" cy="875880"/>
            <a:chOff x="0" y="0"/>
            <a:chExt cx="2997000" cy="875878"/>
          </a:xfrm>
        </p:grpSpPr>
        <p:sp>
          <p:nvSpPr>
            <p:cNvPr id="214"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15"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16"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18"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219"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220" name="Body Level One…"/>
          <p:cNvSpPr txBox="1">
            <a:spLocks noGrp="1"/>
          </p:cNvSpPr>
          <p:nvPr>
            <p:ph type="body" sz="quarter" idx="1"/>
          </p:nvPr>
        </p:nvSpPr>
        <p:spPr>
          <a:xfrm>
            <a:off x="457200" y="1604519"/>
            <a:ext cx="4015800" cy="189684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221" name="PlaceHolder 3"/>
          <p:cNvSpPr/>
          <p:nvPr/>
        </p:nvSpPr>
        <p:spPr>
          <a:xfrm>
            <a:off x="4674239" y="1604519"/>
            <a:ext cx="4015800" cy="1896842"/>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222" name="PlaceHolder 4"/>
          <p:cNvSpPr>
            <a:spLocks noGrp="1"/>
          </p:cNvSpPr>
          <p:nvPr>
            <p:ph type="body" sz="half" idx="21"/>
          </p:nvPr>
        </p:nvSpPr>
        <p:spPr>
          <a:xfrm>
            <a:off x="457199" y="3682079"/>
            <a:ext cx="8229242" cy="1896841"/>
          </a:xfrm>
          <a:prstGeom prst="rect">
            <a:avLst/>
          </a:prstGeom>
        </p:spPr>
        <p:txBody>
          <a:bodyPr lIns="0" tIns="0" rIns="0" bIns="0">
            <a:normAutofit/>
          </a:bodyPr>
          <a:lstStyle/>
          <a:p>
            <a:pPr>
              <a:defRPr spc="-100"/>
            </a:pPr>
            <a:endParaRPr/>
          </a:p>
        </p:txBody>
      </p:sp>
      <p:sp>
        <p:nvSpPr>
          <p:cNvPr id="22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 Content over Content">
    <p:spTree>
      <p:nvGrpSpPr>
        <p:cNvPr id="1" name=""/>
        <p:cNvGrpSpPr/>
        <p:nvPr/>
      </p:nvGrpSpPr>
      <p:grpSpPr>
        <a:xfrm>
          <a:off x="0" y="0"/>
          <a:ext cx="0" cy="0"/>
          <a:chOff x="0" y="0"/>
          <a:chExt cx="0" cy="0"/>
        </a:xfrm>
      </p:grpSpPr>
      <p:sp>
        <p:nvSpPr>
          <p:cNvPr id="230"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231"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232"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233"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37" name="Group 3"/>
          <p:cNvGrpSpPr/>
          <p:nvPr/>
        </p:nvGrpSpPr>
        <p:grpSpPr>
          <a:xfrm>
            <a:off x="6146639" y="0"/>
            <a:ext cx="2997001" cy="875880"/>
            <a:chOff x="0" y="0"/>
            <a:chExt cx="2997000" cy="875878"/>
          </a:xfrm>
        </p:grpSpPr>
        <p:sp>
          <p:nvSpPr>
            <p:cNvPr id="234"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35"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36"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38"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239"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43" name="Group 6"/>
          <p:cNvGrpSpPr/>
          <p:nvPr/>
        </p:nvGrpSpPr>
        <p:grpSpPr>
          <a:xfrm>
            <a:off x="6146639" y="0"/>
            <a:ext cx="2997001" cy="875880"/>
            <a:chOff x="0" y="0"/>
            <a:chExt cx="2997000" cy="875878"/>
          </a:xfrm>
        </p:grpSpPr>
        <p:sp>
          <p:nvSpPr>
            <p:cNvPr id="240"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41"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42"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44"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245"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246" name="Body Level One…"/>
          <p:cNvSpPr txBox="1">
            <a:spLocks noGrp="1"/>
          </p:cNvSpPr>
          <p:nvPr>
            <p:ph type="body" sz="half" idx="1"/>
          </p:nvPr>
        </p:nvSpPr>
        <p:spPr>
          <a:xfrm>
            <a:off x="457200" y="1604519"/>
            <a:ext cx="8229241" cy="189684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247" name="PlaceHolder 3"/>
          <p:cNvSpPr>
            <a:spLocks noGrp="1"/>
          </p:cNvSpPr>
          <p:nvPr>
            <p:ph type="body" sz="half" idx="21"/>
          </p:nvPr>
        </p:nvSpPr>
        <p:spPr>
          <a:xfrm>
            <a:off x="457199" y="3682079"/>
            <a:ext cx="8229242" cy="1896841"/>
          </a:xfrm>
          <a:prstGeom prst="rect">
            <a:avLst/>
          </a:prstGeom>
        </p:spPr>
        <p:txBody>
          <a:bodyPr lIns="0" tIns="0" rIns="0" bIns="0">
            <a:normAutofit/>
          </a:bodyPr>
          <a:lstStyle/>
          <a:p>
            <a:pPr>
              <a:defRPr spc="-100"/>
            </a:pPr>
            <a:endParaRPr/>
          </a:p>
        </p:txBody>
      </p:sp>
      <p:sp>
        <p:nvSpPr>
          <p:cNvPr id="24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 4 Content">
    <p:spTree>
      <p:nvGrpSpPr>
        <p:cNvPr id="1" name=""/>
        <p:cNvGrpSpPr/>
        <p:nvPr/>
      </p:nvGrpSpPr>
      <p:grpSpPr>
        <a:xfrm>
          <a:off x="0" y="0"/>
          <a:ext cx="0" cy="0"/>
          <a:chOff x="0" y="0"/>
          <a:chExt cx="0" cy="0"/>
        </a:xfrm>
      </p:grpSpPr>
      <p:sp>
        <p:nvSpPr>
          <p:cNvPr id="255"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256"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257"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258"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62" name="Group 3"/>
          <p:cNvGrpSpPr/>
          <p:nvPr/>
        </p:nvGrpSpPr>
        <p:grpSpPr>
          <a:xfrm>
            <a:off x="6146639" y="0"/>
            <a:ext cx="2997001" cy="875880"/>
            <a:chOff x="0" y="0"/>
            <a:chExt cx="2997000" cy="875878"/>
          </a:xfrm>
        </p:grpSpPr>
        <p:sp>
          <p:nvSpPr>
            <p:cNvPr id="259"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60"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61"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63"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264"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68" name="Group 6"/>
          <p:cNvGrpSpPr/>
          <p:nvPr/>
        </p:nvGrpSpPr>
        <p:grpSpPr>
          <a:xfrm>
            <a:off x="6146639" y="0"/>
            <a:ext cx="2997001" cy="875880"/>
            <a:chOff x="0" y="0"/>
            <a:chExt cx="2997000" cy="875878"/>
          </a:xfrm>
        </p:grpSpPr>
        <p:sp>
          <p:nvSpPr>
            <p:cNvPr id="265"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66"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67"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69"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270"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271" name="Body Level One…"/>
          <p:cNvSpPr txBox="1">
            <a:spLocks noGrp="1"/>
          </p:cNvSpPr>
          <p:nvPr>
            <p:ph type="body" sz="quarter" idx="1"/>
          </p:nvPr>
        </p:nvSpPr>
        <p:spPr>
          <a:xfrm>
            <a:off x="457200" y="1604519"/>
            <a:ext cx="4015800" cy="189684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272" name="PlaceHolder 3"/>
          <p:cNvSpPr/>
          <p:nvPr/>
        </p:nvSpPr>
        <p:spPr>
          <a:xfrm>
            <a:off x="4674239" y="1604519"/>
            <a:ext cx="4015800" cy="1896842"/>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273" name="PlaceHolder 4"/>
          <p:cNvSpPr/>
          <p:nvPr/>
        </p:nvSpPr>
        <p:spPr>
          <a:xfrm>
            <a:off x="457199" y="3682079"/>
            <a:ext cx="4015801" cy="1896841"/>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274" name="PlaceHolder 5"/>
          <p:cNvSpPr>
            <a:spLocks noGrp="1"/>
          </p:cNvSpPr>
          <p:nvPr>
            <p:ph type="body" sz="quarter" idx="21"/>
          </p:nvPr>
        </p:nvSpPr>
        <p:spPr>
          <a:xfrm>
            <a:off x="4674239" y="3682079"/>
            <a:ext cx="4015800" cy="1896841"/>
          </a:xfrm>
          <a:prstGeom prst="rect">
            <a:avLst/>
          </a:prstGeom>
        </p:spPr>
        <p:txBody>
          <a:bodyPr lIns="0" tIns="0" rIns="0" bIns="0">
            <a:normAutofit/>
          </a:bodyPr>
          <a:lstStyle/>
          <a:p>
            <a:pPr>
              <a:defRPr spc="-100"/>
            </a:pPr>
            <a:endParaRPr/>
          </a:p>
        </p:txBody>
      </p:sp>
      <p:sp>
        <p:nvSpPr>
          <p:cNvPr id="27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 6 Content">
    <p:spTree>
      <p:nvGrpSpPr>
        <p:cNvPr id="1" name=""/>
        <p:cNvGrpSpPr/>
        <p:nvPr/>
      </p:nvGrpSpPr>
      <p:grpSpPr>
        <a:xfrm>
          <a:off x="0" y="0"/>
          <a:ext cx="0" cy="0"/>
          <a:chOff x="0" y="0"/>
          <a:chExt cx="0" cy="0"/>
        </a:xfrm>
      </p:grpSpPr>
      <p:sp>
        <p:nvSpPr>
          <p:cNvPr id="282"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283"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284"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pic>
        <p:nvPicPr>
          <p:cNvPr id="285"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89" name="Group 3"/>
          <p:cNvGrpSpPr/>
          <p:nvPr/>
        </p:nvGrpSpPr>
        <p:grpSpPr>
          <a:xfrm>
            <a:off x="6146639" y="0"/>
            <a:ext cx="2997001" cy="875880"/>
            <a:chOff x="0" y="0"/>
            <a:chExt cx="2997000" cy="875878"/>
          </a:xfrm>
        </p:grpSpPr>
        <p:sp>
          <p:nvSpPr>
            <p:cNvPr id="28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87"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8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90"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pic>
        <p:nvPicPr>
          <p:cNvPr id="291" name="Picture 10" descr="Picture 10"/>
          <p:cNvPicPr>
            <a:picLocks noChangeAspect="1"/>
          </p:cNvPicPr>
          <p:nvPr/>
        </p:nvPicPr>
        <p:blipFill>
          <a:blip r:embed="rId2"/>
          <a:srcRect b="10718"/>
          <a:stretch>
            <a:fillRect/>
          </a:stretch>
        </p:blipFill>
        <p:spPr>
          <a:xfrm>
            <a:off x="6553079" y="228600"/>
            <a:ext cx="2057041" cy="634681"/>
          </a:xfrm>
          <a:prstGeom prst="rect">
            <a:avLst/>
          </a:prstGeom>
          <a:ln w="12700">
            <a:miter lim="400000"/>
          </a:ln>
        </p:spPr>
      </p:pic>
      <p:grpSp>
        <p:nvGrpSpPr>
          <p:cNvPr id="295" name="Group 6"/>
          <p:cNvGrpSpPr/>
          <p:nvPr/>
        </p:nvGrpSpPr>
        <p:grpSpPr>
          <a:xfrm>
            <a:off x="6146639" y="0"/>
            <a:ext cx="2997001" cy="875880"/>
            <a:chOff x="0" y="0"/>
            <a:chExt cx="2997000" cy="875878"/>
          </a:xfrm>
        </p:grpSpPr>
        <p:sp>
          <p:nvSpPr>
            <p:cNvPr id="29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293" name="Picture 9" descr="Picture 9"/>
            <p:cNvPicPr>
              <a:picLocks noChangeAspect="1"/>
            </p:cNvPicPr>
            <p:nvPr/>
          </p:nvPicPr>
          <p:blipFill>
            <a:blip r:embed="rId2"/>
            <a:srcRect b="10718"/>
            <a:stretch>
              <a:fillRect/>
            </a:stretch>
          </p:blipFill>
          <p:spPr>
            <a:xfrm>
              <a:off x="406440" y="228599"/>
              <a:ext cx="2057040" cy="634681"/>
            </a:xfrm>
            <a:prstGeom prst="rect">
              <a:avLst/>
            </a:prstGeom>
            <a:ln w="12700" cap="flat">
              <a:noFill/>
              <a:miter lim="400000"/>
            </a:ln>
            <a:effectLst/>
          </p:spPr>
        </p:pic>
        <p:sp>
          <p:nvSpPr>
            <p:cNvPr id="29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296" name="Picture 15" descr="Picture 15"/>
          <p:cNvPicPr>
            <a:picLocks noChangeAspect="1"/>
          </p:cNvPicPr>
          <p:nvPr/>
        </p:nvPicPr>
        <p:blipFill>
          <a:blip r:embed="rId3"/>
          <a:stretch>
            <a:fillRect/>
          </a:stretch>
        </p:blipFill>
        <p:spPr>
          <a:xfrm>
            <a:off x="6553079" y="228600"/>
            <a:ext cx="1920601" cy="609120"/>
          </a:xfrm>
          <a:prstGeom prst="rect">
            <a:avLst/>
          </a:prstGeom>
          <a:ln w="12700">
            <a:miter lim="400000"/>
          </a:ln>
        </p:spPr>
      </p:pic>
      <p:sp>
        <p:nvSpPr>
          <p:cNvPr id="297" name="Title Text"/>
          <p:cNvSpPr txBox="1">
            <a:spLocks noGrp="1"/>
          </p:cNvSpPr>
          <p:nvPr>
            <p:ph type="title"/>
          </p:nvPr>
        </p:nvSpPr>
        <p:spPr>
          <a:xfrm>
            <a:off x="0" y="0"/>
            <a:ext cx="5486040" cy="914041"/>
          </a:xfrm>
          <a:prstGeom prst="rect">
            <a:avLst/>
          </a:prstGeom>
        </p:spPr>
        <p:txBody>
          <a:bodyPr lIns="0" tIns="0" rIns="0" bIns="0">
            <a:normAutofit/>
          </a:bodyPr>
          <a:lstStyle/>
          <a:p>
            <a:r>
              <a:t>Title Text</a:t>
            </a:r>
          </a:p>
        </p:txBody>
      </p:sp>
      <p:sp>
        <p:nvSpPr>
          <p:cNvPr id="298" name="Body Level One…"/>
          <p:cNvSpPr txBox="1">
            <a:spLocks noGrp="1"/>
          </p:cNvSpPr>
          <p:nvPr>
            <p:ph type="body" sz="quarter" idx="1"/>
          </p:nvPr>
        </p:nvSpPr>
        <p:spPr>
          <a:xfrm>
            <a:off x="457200" y="1604519"/>
            <a:ext cx="2649601" cy="1896842"/>
          </a:xfrm>
          <a:prstGeom prst="rect">
            <a:avLst/>
          </a:prstGeom>
        </p:spPr>
        <p:txBody>
          <a:bodyPr lIns="0" tIns="0" rIns="0" bIns="0">
            <a:normAutofit/>
          </a:bodyPr>
          <a:lstStyle/>
          <a:p>
            <a:r>
              <a:t>Body Level One</a:t>
            </a:r>
          </a:p>
          <a:p>
            <a:pPr lvl="1"/>
            <a:r>
              <a:t>Body Level Two</a:t>
            </a:r>
          </a:p>
          <a:p>
            <a:pPr lvl="2"/>
            <a:r>
              <a:t>Body Level Three</a:t>
            </a:r>
          </a:p>
          <a:p>
            <a:pPr lvl="3"/>
            <a:r>
              <a:t>Body Level Four</a:t>
            </a:r>
          </a:p>
          <a:p>
            <a:pPr lvl="4"/>
            <a:r>
              <a:t>Body Level Five</a:t>
            </a:r>
          </a:p>
        </p:txBody>
      </p:sp>
      <p:sp>
        <p:nvSpPr>
          <p:cNvPr id="299" name="PlaceHolder 3"/>
          <p:cNvSpPr/>
          <p:nvPr/>
        </p:nvSpPr>
        <p:spPr>
          <a:xfrm>
            <a:off x="3239640" y="1604519"/>
            <a:ext cx="2649601" cy="1896842"/>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300" name="PlaceHolder 4"/>
          <p:cNvSpPr/>
          <p:nvPr/>
        </p:nvSpPr>
        <p:spPr>
          <a:xfrm>
            <a:off x="6022080" y="1604519"/>
            <a:ext cx="2649601" cy="1896842"/>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301" name="PlaceHolder 5"/>
          <p:cNvSpPr/>
          <p:nvPr/>
        </p:nvSpPr>
        <p:spPr>
          <a:xfrm>
            <a:off x="457199" y="3682079"/>
            <a:ext cx="2649602" cy="1896841"/>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302" name="PlaceHolder 6"/>
          <p:cNvSpPr/>
          <p:nvPr/>
        </p:nvSpPr>
        <p:spPr>
          <a:xfrm>
            <a:off x="3239640" y="3682079"/>
            <a:ext cx="2649601" cy="1896841"/>
          </a:xfrm>
          <a:prstGeom prst="rect">
            <a:avLst/>
          </a:prstGeom>
          <a:ln w="12700">
            <a:miter lim="400000"/>
          </a:ln>
        </p:spPr>
        <p:txBody>
          <a:bodyPr lIns="0" tIns="0" rIns="0" bIns="0">
            <a:normAutofit/>
          </a:bodyPr>
          <a:lstStyle/>
          <a:p>
            <a:pPr marL="343080" indent="-342719">
              <a:spcBef>
                <a:spcPts val="600"/>
              </a:spcBef>
              <a:buClr>
                <a:srgbClr val="000000"/>
              </a:buClr>
              <a:buSzPct val="100000"/>
              <a:buFont typeface="Arial"/>
              <a:buChar char="•"/>
              <a:defRPr sz="3200" spc="-100">
                <a:latin typeface="+mn-lt"/>
                <a:ea typeface="+mn-ea"/>
                <a:cs typeface="+mn-cs"/>
                <a:sym typeface="Calibri"/>
              </a:defRPr>
            </a:pPr>
            <a:endParaRPr/>
          </a:p>
        </p:txBody>
      </p:sp>
      <p:sp>
        <p:nvSpPr>
          <p:cNvPr id="303" name="PlaceHolder 7"/>
          <p:cNvSpPr>
            <a:spLocks noGrp="1"/>
          </p:cNvSpPr>
          <p:nvPr>
            <p:ph type="body" sz="quarter" idx="21"/>
          </p:nvPr>
        </p:nvSpPr>
        <p:spPr>
          <a:xfrm>
            <a:off x="6022080" y="3682079"/>
            <a:ext cx="2649601" cy="1896841"/>
          </a:xfrm>
          <a:prstGeom prst="rect">
            <a:avLst/>
          </a:prstGeom>
        </p:spPr>
        <p:txBody>
          <a:bodyPr lIns="0" tIns="0" rIns="0" bIns="0">
            <a:normAutofit/>
          </a:bodyPr>
          <a:lstStyle/>
          <a:p>
            <a:pPr>
              <a:defRPr spc="-100"/>
            </a:pPr>
            <a:endParaRPr/>
          </a:p>
        </p:txBody>
      </p:sp>
      <p:sp>
        <p:nvSpPr>
          <p:cNvPr id="30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ustomShape 1"/>
          <p:cNvSpPr/>
          <p:nvPr/>
        </p:nvSpPr>
        <p:spPr>
          <a:xfrm>
            <a:off x="-1" y="0"/>
            <a:ext cx="9143642" cy="837720"/>
          </a:xfrm>
          <a:prstGeom prst="rect">
            <a:avLst/>
          </a:prstGeom>
          <a:solidFill>
            <a:srgbClr val="FF3300"/>
          </a:solidFill>
          <a:ln w="12700">
            <a:miter lim="400000"/>
          </a:ln>
        </p:spPr>
        <p:txBody>
          <a:bodyPr lIns="45719" rIns="45719"/>
          <a:lstStyle/>
          <a:p>
            <a:endParaRPr/>
          </a:p>
        </p:txBody>
      </p:sp>
      <p:sp>
        <p:nvSpPr>
          <p:cNvPr id="3" name="CustomShape 2"/>
          <p:cNvSpPr/>
          <p:nvPr/>
        </p:nvSpPr>
        <p:spPr>
          <a:xfrm flipV="1">
            <a:off x="-1" y="6704640"/>
            <a:ext cx="9143642" cy="197641"/>
          </a:xfrm>
          <a:prstGeom prst="rect">
            <a:avLst/>
          </a:prstGeom>
          <a:solidFill>
            <a:srgbClr val="FF0000"/>
          </a:solidFill>
          <a:ln w="12700">
            <a:miter lim="400000"/>
          </a:ln>
        </p:spPr>
        <p:txBody>
          <a:bodyPr lIns="45719" rIns="45719"/>
          <a:lstStyle/>
          <a:p>
            <a:endParaRPr/>
          </a:p>
        </p:txBody>
      </p:sp>
      <p:pic>
        <p:nvPicPr>
          <p:cNvPr id="4" name="Picture 10" descr="Picture 10"/>
          <p:cNvPicPr>
            <a:picLocks noChangeAspect="1"/>
          </p:cNvPicPr>
          <p:nvPr/>
        </p:nvPicPr>
        <p:blipFill>
          <a:blip r:embed="rId14"/>
          <a:srcRect b="10718"/>
          <a:stretch>
            <a:fillRect/>
          </a:stretch>
        </p:blipFill>
        <p:spPr>
          <a:xfrm>
            <a:off x="6553079" y="228600"/>
            <a:ext cx="2057041" cy="634681"/>
          </a:xfrm>
          <a:prstGeom prst="rect">
            <a:avLst/>
          </a:prstGeom>
          <a:ln w="12700">
            <a:miter lim="400000"/>
          </a:ln>
        </p:spPr>
      </p:pic>
      <p:pic>
        <p:nvPicPr>
          <p:cNvPr id="5" name="Picture 10" descr="Picture 10"/>
          <p:cNvPicPr>
            <a:picLocks noChangeAspect="1"/>
          </p:cNvPicPr>
          <p:nvPr/>
        </p:nvPicPr>
        <p:blipFill>
          <a:blip r:embed="rId14"/>
          <a:srcRect b="10718"/>
          <a:stretch>
            <a:fillRect/>
          </a:stretch>
        </p:blipFill>
        <p:spPr>
          <a:xfrm>
            <a:off x="6553079" y="228600"/>
            <a:ext cx="2057041" cy="634681"/>
          </a:xfrm>
          <a:prstGeom prst="rect">
            <a:avLst/>
          </a:prstGeom>
          <a:ln w="12700">
            <a:miter lim="400000"/>
          </a:ln>
        </p:spPr>
      </p:pic>
      <p:grpSp>
        <p:nvGrpSpPr>
          <p:cNvPr id="9" name="Group 3"/>
          <p:cNvGrpSpPr/>
          <p:nvPr/>
        </p:nvGrpSpPr>
        <p:grpSpPr>
          <a:xfrm>
            <a:off x="6146639" y="0"/>
            <a:ext cx="2997001" cy="875880"/>
            <a:chOff x="0" y="0"/>
            <a:chExt cx="2997000" cy="875878"/>
          </a:xfrm>
        </p:grpSpPr>
        <p:sp>
          <p:nvSpPr>
            <p:cNvPr id="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7" name="Picture 9" descr="Picture 9"/>
            <p:cNvPicPr>
              <a:picLocks noChangeAspect="1"/>
            </p:cNvPicPr>
            <p:nvPr/>
          </p:nvPicPr>
          <p:blipFill>
            <a:blip r:embed="rId14"/>
            <a:srcRect b="10718"/>
            <a:stretch>
              <a:fillRect/>
            </a:stretch>
          </p:blipFill>
          <p:spPr>
            <a:xfrm>
              <a:off x="406440" y="228599"/>
              <a:ext cx="2057040" cy="634681"/>
            </a:xfrm>
            <a:prstGeom prst="rect">
              <a:avLst/>
            </a:prstGeom>
            <a:ln w="12700" cap="flat">
              <a:noFill/>
              <a:miter lim="400000"/>
            </a:ln>
            <a:effectLst/>
          </p:spPr>
        </p:pic>
        <p:sp>
          <p:nvSpPr>
            <p:cNvPr id="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0" name="Picture 15" descr="Picture 15"/>
          <p:cNvPicPr>
            <a:picLocks noChangeAspect="1"/>
          </p:cNvPicPr>
          <p:nvPr/>
        </p:nvPicPr>
        <p:blipFill>
          <a:blip r:embed="rId15"/>
          <a:stretch>
            <a:fillRect/>
          </a:stretch>
        </p:blipFill>
        <p:spPr>
          <a:xfrm>
            <a:off x="6553079" y="228600"/>
            <a:ext cx="1920601" cy="609120"/>
          </a:xfrm>
          <a:prstGeom prst="rect">
            <a:avLst/>
          </a:prstGeom>
          <a:ln w="12700">
            <a:miter lim="400000"/>
          </a:ln>
        </p:spPr>
      </p:pic>
      <p:pic>
        <p:nvPicPr>
          <p:cNvPr id="11" name="Picture 10" descr="Picture 10"/>
          <p:cNvPicPr>
            <a:picLocks noChangeAspect="1"/>
          </p:cNvPicPr>
          <p:nvPr/>
        </p:nvPicPr>
        <p:blipFill>
          <a:blip r:embed="rId14"/>
          <a:srcRect b="10718"/>
          <a:stretch>
            <a:fillRect/>
          </a:stretch>
        </p:blipFill>
        <p:spPr>
          <a:xfrm>
            <a:off x="6553079" y="228600"/>
            <a:ext cx="2057041" cy="634681"/>
          </a:xfrm>
          <a:prstGeom prst="rect">
            <a:avLst/>
          </a:prstGeom>
          <a:ln w="12700">
            <a:miter lim="400000"/>
          </a:ln>
        </p:spPr>
      </p:pic>
      <p:grpSp>
        <p:nvGrpSpPr>
          <p:cNvPr id="15" name="Group 6"/>
          <p:cNvGrpSpPr/>
          <p:nvPr/>
        </p:nvGrpSpPr>
        <p:grpSpPr>
          <a:xfrm>
            <a:off x="6146639" y="0"/>
            <a:ext cx="2997001" cy="875880"/>
            <a:chOff x="0" y="0"/>
            <a:chExt cx="2997000" cy="875878"/>
          </a:xfrm>
        </p:grpSpPr>
        <p:sp>
          <p:nvSpPr>
            <p:cNvPr id="1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endParaRPr/>
            </a:p>
          </p:txBody>
        </p:sp>
        <p:pic>
          <p:nvPicPr>
            <p:cNvPr id="13" name="Picture 9" descr="Picture 9"/>
            <p:cNvPicPr>
              <a:picLocks noChangeAspect="1"/>
            </p:cNvPicPr>
            <p:nvPr/>
          </p:nvPicPr>
          <p:blipFill>
            <a:blip r:embed="rId14"/>
            <a:srcRect b="10718"/>
            <a:stretch>
              <a:fillRect/>
            </a:stretch>
          </p:blipFill>
          <p:spPr>
            <a:xfrm>
              <a:off x="406440" y="228599"/>
              <a:ext cx="2057040" cy="634681"/>
            </a:xfrm>
            <a:prstGeom prst="rect">
              <a:avLst/>
            </a:prstGeom>
            <a:ln w="12700" cap="flat">
              <a:noFill/>
              <a:miter lim="400000"/>
            </a:ln>
            <a:effectLst/>
          </p:spPr>
        </p:pic>
        <p:sp>
          <p:nvSpPr>
            <p:cNvPr id="1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endParaRPr/>
            </a:p>
          </p:txBody>
        </p:sp>
      </p:grpSp>
      <p:pic>
        <p:nvPicPr>
          <p:cNvPr id="16" name="Picture 15" descr="Picture 15"/>
          <p:cNvPicPr>
            <a:picLocks noChangeAspect="1"/>
          </p:cNvPicPr>
          <p:nvPr/>
        </p:nvPicPr>
        <p:blipFill>
          <a:blip r:embed="rId15"/>
          <a:stretch>
            <a:fillRect/>
          </a:stretch>
        </p:blipFill>
        <p:spPr>
          <a:xfrm>
            <a:off x="6553079" y="228600"/>
            <a:ext cx="1920601" cy="609120"/>
          </a:xfrm>
          <a:prstGeom prst="rect">
            <a:avLst/>
          </a:prstGeom>
          <a:ln w="12700">
            <a:miter lim="400000"/>
          </a:ln>
        </p:spPr>
      </p:pic>
      <p:sp>
        <p:nvSpPr>
          <p:cNvPr id="17" name="Title Text"/>
          <p:cNvSpPr txBox="1">
            <a:spLocks noGrp="1"/>
          </p:cNvSpPr>
          <p:nvPr>
            <p:ph type="title"/>
          </p:nvPr>
        </p:nvSpPr>
        <p:spPr>
          <a:xfrm>
            <a:off x="457200" y="92074"/>
            <a:ext cx="8229600" cy="150812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lstStyle/>
          <a:p>
            <a:r>
              <a:t>Title Text</a:t>
            </a:r>
          </a:p>
        </p:txBody>
      </p:sp>
      <p:sp>
        <p:nvSpPr>
          <p:cNvPr id="18" name="Body Level One…"/>
          <p:cNvSpPr txBox="1">
            <a:spLocks noGrp="1"/>
          </p:cNvSpPr>
          <p:nvPr>
            <p:ph type="body" idx="1"/>
          </p:nvPr>
        </p:nvSpPr>
        <p:spPr>
          <a:xfrm>
            <a:off x="457200" y="1600200"/>
            <a:ext cx="8229600" cy="52578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lstStyle/>
          <a:p>
            <a:r>
              <a:t>Body Level One</a:t>
            </a:r>
          </a:p>
          <a:p>
            <a:pPr lvl="1"/>
            <a:r>
              <a:t>Body Level Two</a:t>
            </a:r>
          </a:p>
          <a:p>
            <a:pPr lvl="2"/>
            <a:r>
              <a:t>Body Level Three</a:t>
            </a:r>
          </a:p>
          <a:p>
            <a:pPr lvl="3"/>
            <a:r>
              <a:t>Body Level Four</a:t>
            </a:r>
          </a:p>
          <a:p>
            <a:pPr lvl="4"/>
            <a:r>
              <a:t>Body Level Five</a:t>
            </a:r>
          </a:p>
        </p:txBody>
      </p:sp>
      <p:sp>
        <p:nvSpPr>
          <p:cNvPr id="19" name="Slide Number"/>
          <p:cNvSpPr txBox="1">
            <a:spLocks noGrp="1"/>
          </p:cNvSpPr>
          <p:nvPr>
            <p:ph type="sldNum" sz="quarter" idx="2"/>
          </p:nvPr>
        </p:nvSpPr>
        <p:spPr>
          <a:xfrm>
            <a:off x="4419600" y="6172200"/>
            <a:ext cx="2133600" cy="368301"/>
          </a:xfrm>
          <a:prstGeom prst="rect">
            <a:avLst/>
          </a:prstGeom>
          <a:ln w="12700">
            <a:miter lim="400000"/>
          </a:ln>
        </p:spPr>
        <p:txBody>
          <a:bodyPr wrap="none" lIns="45719" rIns="45719" anchor="ctr">
            <a:spAutoFit/>
          </a:bodyPr>
          <a:lstStyle>
            <a:lvl1pPr algn="r">
              <a:defRPr sz="1200" spc="-1">
                <a:solidFill>
                  <a:srgbClr val="898989"/>
                </a:solidFill>
                <a:latin typeface="+mn-lt"/>
                <a:ea typeface="+mn-ea"/>
                <a:cs typeface="+mn-cs"/>
                <a:sym typeface="Calibri"/>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ransition spd="med"/>
  <p:txStyles>
    <p:titleStyle>
      <a:lvl1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1pPr>
      <a:lvl2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2pPr>
      <a:lvl3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3pPr>
      <a:lvl4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4pPr>
      <a:lvl5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5pPr>
      <a:lvl6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6pPr>
      <a:lvl7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7pPr>
      <a:lvl8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8pPr>
      <a:lvl9pPr marL="0" marR="0" indent="0" algn="ctr" defTabSz="914400" rtl="0" latinLnBrk="0">
        <a:lnSpc>
          <a:spcPct val="100000"/>
        </a:lnSpc>
        <a:spcBef>
          <a:spcPts val="0"/>
        </a:spcBef>
        <a:spcAft>
          <a:spcPts val="0"/>
        </a:spcAft>
        <a:buClrTx/>
        <a:buSzTx/>
        <a:buFontTx/>
        <a:buNone/>
        <a:tabLst/>
        <a:defRPr sz="3000" b="0" i="0" u="none" strike="noStrike" cap="none" spc="-1" baseline="0">
          <a:solidFill>
            <a:srgbClr val="000000"/>
          </a:solidFill>
          <a:uFillTx/>
          <a:latin typeface="+mn-lt"/>
          <a:ea typeface="+mn-ea"/>
          <a:cs typeface="+mn-cs"/>
          <a:sym typeface="Calibri"/>
        </a:defRPr>
      </a:lvl9pPr>
    </p:titleStyle>
    <p:bodyStyle>
      <a:lvl1pPr marL="343080" marR="0" indent="-342719"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1pPr>
      <a:lvl2pPr marL="783822" marR="0" indent="-326262"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2pPr>
      <a:lvl3pPr marL="1219079" marR="0" indent="-304319"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3pPr>
      <a:lvl4pPr marL="1737143" marR="0" indent="-365183"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4pPr>
      <a:lvl5pPr marL="2194343" marR="0" indent="-365183"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5pPr>
      <a:lvl6pPr marL="2692400" marR="0" indent="-406400"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6pPr>
      <a:lvl7pPr marL="3149600" marR="0" indent="-406400"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7pPr>
      <a:lvl8pPr marL="3606800" marR="0" indent="-406400"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8pPr>
      <a:lvl9pPr marL="4064000" marR="0" indent="-406400" algn="l" defTabSz="914400" rtl="0" latinLnBrk="0">
        <a:lnSpc>
          <a:spcPct val="100000"/>
        </a:lnSpc>
        <a:spcBef>
          <a:spcPts val="600"/>
        </a:spcBef>
        <a:spcAft>
          <a:spcPts val="0"/>
        </a:spcAft>
        <a:buClr>
          <a:srgbClr val="000000"/>
        </a:buClr>
        <a:buSzPct val="100000"/>
        <a:buFont typeface="Arial"/>
        <a:buChar char="•"/>
        <a:tabLst/>
        <a:defRPr sz="3200" b="0" i="0" u="none" strike="noStrike" cap="none" spc="-1"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1"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 name="TextShape 1"/>
          <p:cNvSpPr txBox="1"/>
          <p:nvPr/>
        </p:nvSpPr>
        <p:spPr>
          <a:xfrm>
            <a:off x="748085" y="840630"/>
            <a:ext cx="7621325" cy="62811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p>
            <a:pPr algn="ctr">
              <a:spcBef>
                <a:spcPts val="400"/>
              </a:spcBef>
              <a:defRPr>
                <a:latin typeface="Times New Roman"/>
                <a:ea typeface="Times New Roman"/>
                <a:cs typeface="Times New Roman"/>
                <a:sym typeface="Times New Roman"/>
              </a:defRPr>
            </a:pPr>
            <a:r>
              <a:rPr dirty="0"/>
              <a:t>Project Presentation of COOP-2 (22CS421)</a:t>
            </a:r>
          </a:p>
          <a:p>
            <a:pPr algn="ctr">
              <a:spcBef>
                <a:spcPts val="400"/>
              </a:spcBef>
              <a:defRPr sz="2000" spc="-1">
                <a:latin typeface="Times New Roman"/>
                <a:ea typeface="Times New Roman"/>
                <a:cs typeface="Times New Roman"/>
                <a:sym typeface="Times New Roman"/>
              </a:defRPr>
            </a:pPr>
            <a:r>
              <a:rPr dirty="0"/>
              <a:t>On</a:t>
            </a:r>
          </a:p>
          <a:p>
            <a:pPr algn="ctr">
              <a:spcBef>
                <a:spcPts val="400"/>
              </a:spcBef>
              <a:defRPr sz="3200" b="1" spc="-1">
                <a:latin typeface="Times New Roman"/>
                <a:ea typeface="Times New Roman"/>
                <a:cs typeface="Times New Roman"/>
                <a:sym typeface="Times New Roman"/>
              </a:defRPr>
            </a:pPr>
            <a:r>
              <a:rPr dirty="0"/>
              <a:t>Challenges in Adopting Microservices Architecture: </a:t>
            </a:r>
            <a:r>
              <a:rPr spc="0" dirty="0"/>
              <a:t>A Systematic Review of Data Consistency and Fault Tolerance</a:t>
            </a:r>
          </a:p>
          <a:p>
            <a:pPr algn="ctr">
              <a:spcBef>
                <a:spcPts val="400"/>
              </a:spcBef>
              <a:defRPr sz="3200" spc="-1">
                <a:latin typeface="Times New Roman"/>
                <a:ea typeface="Times New Roman"/>
                <a:cs typeface="Times New Roman"/>
                <a:sym typeface="Times New Roman"/>
              </a:defRPr>
            </a:pPr>
            <a:br>
              <a:rPr b="1" dirty="0"/>
            </a:br>
            <a:r>
              <a:rPr sz="2000" dirty="0"/>
              <a:t>Devang Sethi</a:t>
            </a:r>
            <a:r>
              <a:rPr lang="en-US" sz="2000" dirty="0"/>
              <a:t> </a:t>
            </a:r>
            <a:r>
              <a:rPr lang="en-US" sz="2000"/>
              <a:t>(TEAM-7)</a:t>
            </a:r>
            <a:endParaRPr sz="2000"/>
          </a:p>
          <a:p>
            <a:pPr algn="ctr">
              <a:spcBef>
                <a:spcPts val="400"/>
              </a:spcBef>
              <a:defRPr sz="2000" spc="-1">
                <a:latin typeface="Times New Roman"/>
                <a:ea typeface="Times New Roman"/>
                <a:cs typeface="Times New Roman"/>
                <a:sym typeface="Times New Roman"/>
              </a:defRPr>
            </a:pPr>
            <a:r>
              <a:rPr dirty="0"/>
              <a:t>2210991489</a:t>
            </a:r>
          </a:p>
          <a:p>
            <a:pPr algn="ctr">
              <a:spcBef>
                <a:spcPts val="400"/>
              </a:spcBef>
              <a:defRPr sz="2000" spc="-1">
                <a:latin typeface="Times New Roman"/>
                <a:ea typeface="Times New Roman"/>
                <a:cs typeface="Times New Roman"/>
                <a:sym typeface="Times New Roman"/>
              </a:defRPr>
            </a:pPr>
            <a:endParaRPr dirty="0"/>
          </a:p>
          <a:p>
            <a:pPr algn="ctr">
              <a:spcBef>
                <a:spcPts val="400"/>
              </a:spcBef>
              <a:defRPr sz="2000" spc="-1">
                <a:latin typeface="Times New Roman"/>
                <a:ea typeface="Times New Roman"/>
                <a:cs typeface="Times New Roman"/>
                <a:sym typeface="Times New Roman"/>
              </a:defRPr>
            </a:pPr>
            <a:r>
              <a:rPr dirty="0"/>
              <a:t>Supervised By</a:t>
            </a:r>
          </a:p>
          <a:p>
            <a:pPr algn="ctr">
              <a:spcBef>
                <a:spcPts val="400"/>
              </a:spcBef>
              <a:defRPr sz="2000" spc="-1">
                <a:latin typeface="Times New Roman"/>
                <a:ea typeface="Times New Roman"/>
                <a:cs typeface="Times New Roman"/>
                <a:sym typeface="Times New Roman"/>
              </a:defRPr>
            </a:pPr>
            <a:r>
              <a:rPr dirty="0"/>
              <a:t>Dr. Rajat </a:t>
            </a:r>
            <a:r>
              <a:rPr dirty="0" err="1"/>
              <a:t>Takkar</a:t>
            </a:r>
            <a:endParaRPr dirty="0"/>
          </a:p>
          <a:p>
            <a:pPr algn="ctr">
              <a:spcBef>
                <a:spcPts val="400"/>
              </a:spcBef>
              <a:defRPr sz="2000" spc="-1">
                <a:latin typeface="Times New Roman"/>
                <a:ea typeface="Times New Roman"/>
                <a:cs typeface="Times New Roman"/>
                <a:sym typeface="Times New Roman"/>
              </a:defRPr>
            </a:pPr>
            <a:endParaRPr dirty="0"/>
          </a:p>
          <a:p>
            <a:pPr algn="ctr">
              <a:spcBef>
                <a:spcPts val="400"/>
              </a:spcBef>
              <a:defRPr sz="2400" spc="-1">
                <a:latin typeface="Times New Roman"/>
                <a:ea typeface="Times New Roman"/>
                <a:cs typeface="Times New Roman"/>
                <a:sym typeface="Times New Roman"/>
              </a:defRPr>
            </a:pPr>
            <a:r>
              <a:rPr dirty="0"/>
              <a:t>Department of Computer Science and Engineering, </a:t>
            </a:r>
          </a:p>
          <a:p>
            <a:pPr algn="ctr">
              <a:spcBef>
                <a:spcPts val="400"/>
              </a:spcBef>
              <a:defRPr sz="2400" spc="-1">
                <a:latin typeface="Times New Roman"/>
                <a:ea typeface="Times New Roman"/>
                <a:cs typeface="Times New Roman"/>
                <a:sym typeface="Times New Roman"/>
              </a:defRPr>
            </a:pPr>
            <a:r>
              <a:rPr dirty="0" err="1"/>
              <a:t>Chitkara</a:t>
            </a:r>
            <a:r>
              <a:rPr dirty="0"/>
              <a:t> University, Punjab</a:t>
            </a:r>
          </a:p>
          <a:p>
            <a:pPr algn="ctr">
              <a:lnSpc>
                <a:spcPct val="150000"/>
              </a:lnSpc>
              <a:spcBef>
                <a:spcPts val="400"/>
              </a:spcBef>
              <a:defRPr sz="2000" spc="-1">
                <a:latin typeface="+mn-lt"/>
                <a:ea typeface="+mn-ea"/>
                <a:cs typeface="+mn-cs"/>
                <a:sym typeface="Calibri"/>
              </a:defRPr>
            </a:pPr>
            <a:endParaRPr dirty="0"/>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Objective</a:t>
            </a:r>
          </a:p>
        </p:txBody>
      </p:sp>
      <p:sp>
        <p:nvSpPr>
          <p:cNvPr id="316"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To analyse key challenges in maintaining data consistency in distributed microservices systems</a:t>
            </a:r>
          </a:p>
          <a:p>
            <a:pPr>
              <a:defRPr sz="2400" spc="-100">
                <a:latin typeface="Times New Roman"/>
                <a:ea typeface="Times New Roman"/>
                <a:cs typeface="Times New Roman"/>
                <a:sym typeface="Times New Roman"/>
              </a:defRPr>
            </a:pPr>
            <a:r>
              <a:t>To examine fault tolerance issues arising from service failures and network communication</a:t>
            </a:r>
          </a:p>
          <a:p>
            <a:pPr>
              <a:defRPr sz="2400" spc="-100">
                <a:latin typeface="Times New Roman"/>
                <a:ea typeface="Times New Roman"/>
                <a:cs typeface="Times New Roman"/>
                <a:sym typeface="Times New Roman"/>
              </a:defRPr>
            </a:pPr>
            <a:r>
              <a:t>To evaluate different architectural strategies such as Saga pattern and distributed transactions</a:t>
            </a:r>
          </a:p>
          <a:p>
            <a:pPr>
              <a:defRPr sz="2400" spc="-100">
                <a:latin typeface="Times New Roman"/>
                <a:ea typeface="Times New Roman"/>
                <a:cs typeface="Times New Roman"/>
                <a:sym typeface="Times New Roman"/>
              </a:defRPr>
            </a:pPr>
            <a:r>
              <a:t>To compare trade-offs between consistency, availability, and scalability</a:t>
            </a:r>
          </a:p>
          <a:p>
            <a:pPr>
              <a:defRPr sz="2400" spc="-100">
                <a:latin typeface="Times New Roman"/>
                <a:ea typeface="Times New Roman"/>
                <a:cs typeface="Times New Roman"/>
                <a:sym typeface="Times New Roman"/>
              </a:defRPr>
            </a:pPr>
            <a:r>
              <a:t>To identify research gaps and future directions in microservices architecture</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0"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Background</a:t>
            </a:r>
          </a:p>
        </p:txBody>
      </p:sp>
      <p:sp>
        <p:nvSpPr>
          <p:cNvPr id="321" name="Subtitle 3"/>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Microservices architecture is widely adopted for building scalable and cloud-native applications</a:t>
            </a:r>
          </a:p>
          <a:p>
            <a:pPr>
              <a:defRPr sz="2400" spc="-100">
                <a:latin typeface="Times New Roman"/>
                <a:ea typeface="Times New Roman"/>
                <a:cs typeface="Times New Roman"/>
                <a:sym typeface="Times New Roman"/>
              </a:defRPr>
            </a:pPr>
            <a:r>
              <a:t>Applications are decomposed into small, independently deployable services</a:t>
            </a:r>
          </a:p>
          <a:p>
            <a:pPr>
              <a:defRPr sz="2400" spc="-100">
                <a:latin typeface="Times New Roman"/>
                <a:ea typeface="Times New Roman"/>
                <a:cs typeface="Times New Roman"/>
                <a:sym typeface="Times New Roman"/>
              </a:defRPr>
            </a:pPr>
            <a:r>
              <a:t>Each service manages its own data and business logic</a:t>
            </a:r>
          </a:p>
          <a:p>
            <a:pPr>
              <a:defRPr sz="2400" spc="-100">
                <a:latin typeface="Times New Roman"/>
                <a:ea typeface="Times New Roman"/>
                <a:cs typeface="Times New Roman"/>
                <a:sym typeface="Times New Roman"/>
              </a:defRPr>
            </a:pPr>
            <a:r>
              <a:t>Improves flexibility, scalability, and faster development cycles</a:t>
            </a:r>
          </a:p>
          <a:p>
            <a:pPr>
              <a:defRPr sz="2400" spc="-100">
                <a:latin typeface="Times New Roman"/>
                <a:ea typeface="Times New Roman"/>
                <a:cs typeface="Times New Roman"/>
                <a:sym typeface="Times New Roman"/>
              </a:defRPr>
            </a:pPr>
            <a:r>
              <a:t>However, decentralization introduces challenges not present in monolithic systems</a:t>
            </a:r>
          </a:p>
          <a:p>
            <a:pPr>
              <a:defRPr sz="2400" spc="-100">
                <a:latin typeface="Times New Roman"/>
                <a:ea typeface="Times New Roman"/>
                <a:cs typeface="Times New Roman"/>
                <a:sym typeface="Times New Roman"/>
              </a:defRPr>
            </a:pPr>
            <a:r>
              <a:t>Particularly affects data consistency and system reliability</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Problem Statement</a:t>
            </a:r>
          </a:p>
        </p:txBody>
      </p:sp>
      <p:sp>
        <p:nvSpPr>
          <p:cNvPr id="326" name="Subtitle 3"/>
          <p:cNvSpPr txBox="1">
            <a:spLocks noGrp="1"/>
          </p:cNvSpPr>
          <p:nvPr>
            <p:ph type="body" idx="1"/>
          </p:nvPr>
        </p:nvSpPr>
        <p:spPr>
          <a:xfrm>
            <a:off x="457200" y="1604962"/>
            <a:ext cx="8229600" cy="3976688"/>
          </a:xfrm>
          <a:prstGeom prst="rect">
            <a:avLst/>
          </a:prstGeom>
        </p:spPr>
        <p:txBody>
          <a:bodyPr/>
          <a:lstStyle/>
          <a:p>
            <a:pPr marL="332787" indent="-332438" defTabSz="886968">
              <a:spcBef>
                <a:spcPts val="500"/>
              </a:spcBef>
              <a:defRPr sz="2328" spc="-97">
                <a:latin typeface="Times New Roman"/>
                <a:ea typeface="Times New Roman"/>
                <a:cs typeface="Times New Roman"/>
                <a:sym typeface="Times New Roman"/>
              </a:defRPr>
            </a:pPr>
            <a:r>
              <a:t>Maintaining data consistency across multiple independent services is difficult</a:t>
            </a:r>
          </a:p>
          <a:p>
            <a:pPr marL="332787" indent="-332438" defTabSz="886968">
              <a:spcBef>
                <a:spcPts val="500"/>
              </a:spcBef>
              <a:defRPr sz="2328" spc="-97">
                <a:latin typeface="Times New Roman"/>
                <a:ea typeface="Times New Roman"/>
                <a:cs typeface="Times New Roman"/>
                <a:sym typeface="Times New Roman"/>
              </a:defRPr>
            </a:pPr>
            <a:r>
              <a:t>Distributed systems lack a centralized database for coordination</a:t>
            </a:r>
          </a:p>
          <a:p>
            <a:pPr marL="332787" indent="-332438" defTabSz="886968">
              <a:spcBef>
                <a:spcPts val="500"/>
              </a:spcBef>
              <a:defRPr sz="2328" spc="-97">
                <a:latin typeface="Times New Roman"/>
                <a:ea typeface="Times New Roman"/>
                <a:cs typeface="Times New Roman"/>
                <a:sym typeface="Times New Roman"/>
              </a:defRPr>
            </a:pPr>
            <a:r>
              <a:t>Failures such as network issues, service crashes, and latency are inevitable</a:t>
            </a:r>
          </a:p>
          <a:p>
            <a:pPr marL="332787" indent="-332438" defTabSz="886968">
              <a:spcBef>
                <a:spcPts val="500"/>
              </a:spcBef>
              <a:defRPr sz="2328" spc="-97">
                <a:latin typeface="Times New Roman"/>
                <a:ea typeface="Times New Roman"/>
                <a:cs typeface="Times New Roman"/>
                <a:sym typeface="Times New Roman"/>
              </a:defRPr>
            </a:pPr>
            <a:r>
              <a:t>These failures can lead to cascading system-wide issues</a:t>
            </a:r>
          </a:p>
          <a:p>
            <a:pPr marL="332787" indent="-332438" defTabSz="886968">
              <a:spcBef>
                <a:spcPts val="500"/>
              </a:spcBef>
              <a:defRPr sz="2328" spc="-97">
                <a:latin typeface="Times New Roman"/>
                <a:ea typeface="Times New Roman"/>
                <a:cs typeface="Times New Roman"/>
                <a:sym typeface="Times New Roman"/>
              </a:defRPr>
            </a:pPr>
            <a:r>
              <a:t>Trade-offs exist between:</a:t>
            </a:r>
          </a:p>
          <a:p>
            <a:pPr marL="564080" lvl="1" indent="-194510" defTabSz="886968">
              <a:spcBef>
                <a:spcPts val="400"/>
              </a:spcBef>
              <a:buClrTx/>
              <a:buFontTx/>
              <a:buChar char="•"/>
              <a:defRPr sz="1940" spc="-97">
                <a:latin typeface="Times New Roman"/>
                <a:ea typeface="Times New Roman"/>
                <a:cs typeface="Times New Roman"/>
                <a:sym typeface="Times New Roman"/>
              </a:defRPr>
            </a:pPr>
            <a:r>
              <a:t>Strong consistency</a:t>
            </a:r>
            <a:endParaRPr sz="2716" spc="0"/>
          </a:p>
          <a:p>
            <a:pPr marL="564080" lvl="1" indent="-194510" defTabSz="886968">
              <a:spcBef>
                <a:spcPts val="400"/>
              </a:spcBef>
              <a:buClrTx/>
              <a:buFontTx/>
              <a:buChar char="•"/>
              <a:defRPr sz="1940" spc="-97">
                <a:latin typeface="Times New Roman"/>
                <a:ea typeface="Times New Roman"/>
                <a:cs typeface="Times New Roman"/>
                <a:sym typeface="Times New Roman"/>
              </a:defRPr>
            </a:pPr>
            <a:r>
              <a:t>High availability</a:t>
            </a:r>
            <a:endParaRPr sz="2716" spc="0"/>
          </a:p>
          <a:p>
            <a:pPr marL="564080" lvl="1" indent="-194510" defTabSz="886968">
              <a:spcBef>
                <a:spcPts val="400"/>
              </a:spcBef>
              <a:buClrTx/>
              <a:buFontTx/>
              <a:buChar char="•"/>
              <a:defRPr sz="1940" spc="-97">
                <a:latin typeface="Times New Roman"/>
                <a:ea typeface="Times New Roman"/>
                <a:cs typeface="Times New Roman"/>
                <a:sym typeface="Times New Roman"/>
              </a:defRPr>
            </a:pPr>
            <a:r>
              <a:t>Fault tolerance</a:t>
            </a:r>
            <a:endParaRPr sz="2716" spc="0"/>
          </a:p>
          <a:p>
            <a:pPr marL="332787" indent="-332438" defTabSz="886968">
              <a:spcBef>
                <a:spcPts val="500"/>
              </a:spcBef>
              <a:defRPr sz="2328" spc="-97">
                <a:latin typeface="Times New Roman"/>
                <a:ea typeface="Times New Roman"/>
                <a:cs typeface="Times New Roman"/>
                <a:sym typeface="Times New Roman"/>
              </a:defRPr>
            </a:pPr>
            <a:r>
              <a:t>No universally optimal solution exists</a:t>
            </a:r>
          </a:p>
        </p:txBody>
      </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Methodology</a:t>
            </a:r>
          </a:p>
        </p:txBody>
      </p:sp>
      <p:sp>
        <p:nvSpPr>
          <p:cNvPr id="331" name="Subtitle 2"/>
          <p:cNvSpPr txBox="1">
            <a:spLocks noGrp="1"/>
          </p:cNvSpPr>
          <p:nvPr>
            <p:ph type="body" idx="1"/>
          </p:nvPr>
        </p:nvSpPr>
        <p:spPr>
          <a:xfrm>
            <a:off x="457200" y="1604962"/>
            <a:ext cx="8229600" cy="3976688"/>
          </a:xfrm>
          <a:prstGeom prst="rect">
            <a:avLst/>
          </a:prstGeom>
        </p:spPr>
        <p:txBody>
          <a:bodyPr/>
          <a:lstStyle/>
          <a:p>
            <a:pPr marL="329356" indent="-329011" defTabSz="877823">
              <a:spcBef>
                <a:spcPts val="500"/>
              </a:spcBef>
              <a:defRPr sz="1919" spc="-96">
                <a:latin typeface="Times New Roman"/>
                <a:ea typeface="Times New Roman"/>
                <a:cs typeface="Times New Roman"/>
                <a:sym typeface="Times New Roman"/>
              </a:defRPr>
            </a:pPr>
            <a:r>
              <a:t>A Systematic Literature Review (SLR) approach was adopted</a:t>
            </a:r>
          </a:p>
          <a:p>
            <a:pPr marL="329356" indent="-329011" defTabSz="877823">
              <a:spcBef>
                <a:spcPts val="500"/>
              </a:spcBef>
              <a:defRPr sz="1919" spc="-96">
                <a:latin typeface="Times New Roman"/>
                <a:ea typeface="Times New Roman"/>
                <a:cs typeface="Times New Roman"/>
                <a:sym typeface="Times New Roman"/>
              </a:defRPr>
            </a:pPr>
            <a:r>
              <a:t>Research papers published between 2016 and 2026 were analysed</a:t>
            </a:r>
          </a:p>
          <a:p>
            <a:pPr marL="329356" indent="-329011" defTabSz="877823">
              <a:spcBef>
                <a:spcPts val="500"/>
              </a:spcBef>
              <a:defRPr sz="1919" spc="-96">
                <a:latin typeface="Times New Roman"/>
                <a:ea typeface="Times New Roman"/>
                <a:cs typeface="Times New Roman"/>
                <a:sym typeface="Times New Roman"/>
              </a:defRPr>
            </a:pPr>
            <a:r>
              <a:t>Data sources included: </a:t>
            </a:r>
          </a:p>
          <a:p>
            <a:pPr marL="539014" lvl="1" indent="-173254" defTabSz="877823">
              <a:spcBef>
                <a:spcPts val="400"/>
              </a:spcBef>
              <a:buClrTx/>
              <a:buFontTx/>
              <a:buChar char="•"/>
              <a:defRPr sz="1727" spc="-95">
                <a:latin typeface="Times New Roman"/>
                <a:ea typeface="Times New Roman"/>
                <a:cs typeface="Times New Roman"/>
                <a:sym typeface="Times New Roman"/>
              </a:defRPr>
            </a:pPr>
            <a:r>
              <a:t>IEEE Xplore</a:t>
            </a:r>
            <a:endParaRPr sz="2688" spc="0"/>
          </a:p>
          <a:p>
            <a:pPr marL="539014" lvl="1" indent="-173254" defTabSz="877823">
              <a:spcBef>
                <a:spcPts val="400"/>
              </a:spcBef>
              <a:buClrTx/>
              <a:buFontTx/>
              <a:buChar char="•"/>
              <a:defRPr sz="1727" spc="-95">
                <a:latin typeface="Times New Roman"/>
                <a:ea typeface="Times New Roman"/>
                <a:cs typeface="Times New Roman"/>
                <a:sym typeface="Times New Roman"/>
              </a:defRPr>
            </a:pPr>
            <a:r>
              <a:t>ACM Digital Library</a:t>
            </a:r>
            <a:endParaRPr sz="2688" spc="0"/>
          </a:p>
          <a:p>
            <a:pPr marL="539014" lvl="1" indent="-173254" defTabSz="877823">
              <a:spcBef>
                <a:spcPts val="400"/>
              </a:spcBef>
              <a:buClrTx/>
              <a:buFontTx/>
              <a:buChar char="•"/>
              <a:defRPr sz="1727" spc="-95">
                <a:latin typeface="Times New Roman"/>
                <a:ea typeface="Times New Roman"/>
                <a:cs typeface="Times New Roman"/>
                <a:sym typeface="Times New Roman"/>
              </a:defRPr>
            </a:pPr>
            <a:r>
              <a:t>SpringerLink</a:t>
            </a:r>
            <a:endParaRPr sz="2688" spc="0"/>
          </a:p>
          <a:p>
            <a:pPr marL="539014" lvl="1" indent="-173254" defTabSz="877823">
              <a:spcBef>
                <a:spcPts val="400"/>
              </a:spcBef>
              <a:buClrTx/>
              <a:buFontTx/>
              <a:buChar char="•"/>
              <a:defRPr sz="1727" spc="-95">
                <a:latin typeface="Times New Roman"/>
                <a:ea typeface="Times New Roman"/>
                <a:cs typeface="Times New Roman"/>
                <a:sym typeface="Times New Roman"/>
              </a:defRPr>
            </a:pPr>
            <a:r>
              <a:t>ScienceDirect</a:t>
            </a:r>
            <a:endParaRPr sz="2688" spc="0"/>
          </a:p>
          <a:p>
            <a:pPr marL="539014" lvl="1" indent="-173254" defTabSz="877823">
              <a:spcBef>
                <a:spcPts val="400"/>
              </a:spcBef>
              <a:buClrTx/>
              <a:buFontTx/>
              <a:buChar char="•"/>
              <a:defRPr sz="1727" spc="-95">
                <a:latin typeface="Times New Roman"/>
                <a:ea typeface="Times New Roman"/>
                <a:cs typeface="Times New Roman"/>
                <a:sym typeface="Times New Roman"/>
              </a:defRPr>
            </a:pPr>
            <a:r>
              <a:t>Google Scholar and arXiv</a:t>
            </a:r>
            <a:endParaRPr spc="0"/>
          </a:p>
          <a:p>
            <a:pPr marL="329356" indent="-329011" defTabSz="877823">
              <a:spcBef>
                <a:spcPts val="500"/>
              </a:spcBef>
              <a:defRPr sz="1919" spc="-96">
                <a:latin typeface="Times New Roman"/>
                <a:ea typeface="Times New Roman"/>
                <a:cs typeface="Times New Roman"/>
                <a:sym typeface="Times New Roman"/>
              </a:defRPr>
            </a:pPr>
            <a:r>
              <a:t>Keyword-based search strategy was used (microservices, consistency, fault tolerance, etc.)</a:t>
            </a:r>
          </a:p>
          <a:p>
            <a:pPr marL="329356" indent="-329011" defTabSz="877823">
              <a:spcBef>
                <a:spcPts val="500"/>
              </a:spcBef>
              <a:defRPr sz="1919" spc="-96">
                <a:latin typeface="Times New Roman"/>
                <a:ea typeface="Times New Roman"/>
                <a:cs typeface="Times New Roman"/>
                <a:sym typeface="Times New Roman"/>
              </a:defRPr>
            </a:pPr>
            <a:r>
              <a:t>Inclusion and exclusion criteria ensured relevance and quality</a:t>
            </a:r>
          </a:p>
          <a:p>
            <a:pPr marL="329356" indent="-329011" defTabSz="877823">
              <a:spcBef>
                <a:spcPts val="500"/>
              </a:spcBef>
              <a:defRPr sz="1919" spc="-96">
                <a:latin typeface="Times New Roman"/>
                <a:ea typeface="Times New Roman"/>
                <a:cs typeface="Times New Roman"/>
                <a:sym typeface="Times New Roman"/>
              </a:defRPr>
            </a:pPr>
            <a:r>
              <a:t>PRISMA-inspired filtering process applied</a:t>
            </a:r>
          </a:p>
          <a:p>
            <a:pPr marL="329356" indent="-329011" defTabSz="877823">
              <a:spcBef>
                <a:spcPts val="500"/>
              </a:spcBef>
              <a:defRPr sz="1919" spc="-96">
                <a:latin typeface="Times New Roman"/>
                <a:ea typeface="Times New Roman"/>
                <a:cs typeface="Times New Roman"/>
                <a:sym typeface="Times New Roman"/>
              </a:defRPr>
            </a:pPr>
            <a:r>
              <a:t>Final studies were qualitatively analysed to identify patterns and insights</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Title 1"/>
          <p:cNvSpPr txBox="1">
            <a:spLocks noGrp="1"/>
          </p:cNvSpPr>
          <p:nvPr>
            <p:ph type="title"/>
          </p:nvPr>
        </p:nvSpPr>
        <p:spPr>
          <a:xfrm>
            <a:off x="-1" y="0"/>
            <a:ext cx="6693876" cy="914400"/>
          </a:xfrm>
          <a:prstGeom prst="rect">
            <a:avLst/>
          </a:prstGeom>
        </p:spPr>
        <p:txBody>
          <a:bodyPr/>
          <a:lstStyle>
            <a:lvl1pPr algn="l">
              <a:defRPr sz="4400" spc="-146">
                <a:latin typeface="Times New Roman"/>
                <a:ea typeface="Times New Roman"/>
                <a:cs typeface="Times New Roman"/>
                <a:sym typeface="Times New Roman"/>
              </a:defRPr>
            </a:lvl1pPr>
          </a:lstStyle>
          <a:p>
            <a:r>
              <a:t>Data Consistency Findings</a:t>
            </a:r>
          </a:p>
        </p:txBody>
      </p:sp>
      <p:sp>
        <p:nvSpPr>
          <p:cNvPr id="336"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Microservices promote decentralized data ownership, making global consistency difficult</a:t>
            </a:r>
          </a:p>
          <a:p>
            <a:pPr>
              <a:defRPr sz="2400" spc="-100">
                <a:latin typeface="Times New Roman"/>
                <a:ea typeface="Times New Roman"/>
                <a:cs typeface="Times New Roman"/>
                <a:sym typeface="Times New Roman"/>
              </a:defRPr>
            </a:pPr>
            <a:r>
              <a:t>Strong consistency ensures correctness but reduces system scalability and availability</a:t>
            </a:r>
          </a:p>
          <a:p>
            <a:pPr>
              <a:defRPr sz="2400" spc="-100">
                <a:latin typeface="Times New Roman"/>
                <a:ea typeface="Times New Roman"/>
                <a:cs typeface="Times New Roman"/>
                <a:sym typeface="Times New Roman"/>
              </a:defRPr>
            </a:pPr>
            <a:r>
              <a:t>Eventual consistency is widely adopted in modern systems</a:t>
            </a:r>
          </a:p>
          <a:p>
            <a:pPr>
              <a:defRPr sz="2400" spc="-100">
                <a:latin typeface="Times New Roman"/>
                <a:ea typeface="Times New Roman"/>
                <a:cs typeface="Times New Roman"/>
                <a:sym typeface="Times New Roman"/>
              </a:defRPr>
            </a:pPr>
            <a:r>
              <a:t>BASE model is preferred over traditional ACID transactions</a:t>
            </a:r>
          </a:p>
          <a:p>
            <a:pPr>
              <a:defRPr sz="2400" spc="-100">
                <a:latin typeface="Times New Roman"/>
                <a:ea typeface="Times New Roman"/>
                <a:cs typeface="Times New Roman"/>
                <a:sym typeface="Times New Roman"/>
              </a:defRPr>
            </a:pPr>
            <a:r>
              <a:t>Eventual consistency introduces issues like stale reads and write conflicts</a:t>
            </a:r>
          </a:p>
          <a:p>
            <a:pPr>
              <a:defRPr sz="2400" spc="-100">
                <a:latin typeface="Times New Roman"/>
                <a:ea typeface="Times New Roman"/>
                <a:cs typeface="Times New Roman"/>
                <a:sym typeface="Times New Roman"/>
              </a:defRPr>
            </a:pPr>
            <a:r>
              <a:t>Developers must handle inconsistencies at the application level</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Title 1"/>
          <p:cNvSpPr txBox="1">
            <a:spLocks noGrp="1"/>
          </p:cNvSpPr>
          <p:nvPr>
            <p:ph type="title"/>
          </p:nvPr>
        </p:nvSpPr>
        <p:spPr>
          <a:xfrm>
            <a:off x="0" y="0"/>
            <a:ext cx="6400800" cy="914400"/>
          </a:xfrm>
          <a:prstGeom prst="rect">
            <a:avLst/>
          </a:prstGeom>
        </p:spPr>
        <p:txBody>
          <a:bodyPr/>
          <a:lstStyle>
            <a:lvl1pPr algn="l">
              <a:defRPr sz="4400" spc="-146">
                <a:latin typeface="Times New Roman"/>
                <a:ea typeface="Times New Roman"/>
                <a:cs typeface="Times New Roman"/>
                <a:sym typeface="Times New Roman"/>
              </a:defRPr>
            </a:lvl1pPr>
          </a:lstStyle>
          <a:p>
            <a:r>
              <a:t>Transaction Management</a:t>
            </a:r>
          </a:p>
        </p:txBody>
      </p:sp>
      <p:sp>
        <p:nvSpPr>
          <p:cNvPr id="341"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Two-Phase Commit (2PC):</a:t>
            </a:r>
          </a:p>
          <a:p>
            <a:pPr marL="581526" lvl="1" indent="-200526">
              <a:spcBef>
                <a:spcPts val="500"/>
              </a:spcBef>
              <a:buClrTx/>
              <a:buFontTx/>
              <a:buChar char="•"/>
              <a:defRPr sz="2000" spc="-100">
                <a:latin typeface="Times New Roman"/>
                <a:ea typeface="Times New Roman"/>
                <a:cs typeface="Times New Roman"/>
                <a:sym typeface="Times New Roman"/>
              </a:defRPr>
            </a:pPr>
            <a:r>
              <a:t>Ensures strong consistency and atomic transactions</a:t>
            </a:r>
            <a:endParaRPr sz="2800" spc="-1"/>
          </a:p>
          <a:p>
            <a:pPr marL="581526" lvl="1" indent="-200526">
              <a:spcBef>
                <a:spcPts val="500"/>
              </a:spcBef>
              <a:buClrTx/>
              <a:buFontTx/>
              <a:buChar char="•"/>
              <a:defRPr sz="2000" spc="-100">
                <a:latin typeface="Times New Roman"/>
                <a:ea typeface="Times New Roman"/>
                <a:cs typeface="Times New Roman"/>
                <a:sym typeface="Times New Roman"/>
              </a:defRPr>
            </a:pPr>
            <a:r>
              <a:t>Blocking in nature and sensitive to failures</a:t>
            </a:r>
            <a:endParaRPr sz="2800" spc="-1"/>
          </a:p>
          <a:p>
            <a:pPr marL="581526" lvl="1" indent="-200526">
              <a:spcBef>
                <a:spcPts val="500"/>
              </a:spcBef>
              <a:buClrTx/>
              <a:buFontTx/>
              <a:buChar char="•"/>
              <a:defRPr sz="2000" spc="-100">
                <a:latin typeface="Times New Roman"/>
                <a:ea typeface="Times New Roman"/>
                <a:cs typeface="Times New Roman"/>
                <a:sym typeface="Times New Roman"/>
              </a:defRPr>
            </a:pPr>
            <a:r>
              <a:t>Reduces system availability in distributed environments</a:t>
            </a:r>
            <a:endParaRPr sz="2800" spc="-1"/>
          </a:p>
          <a:p>
            <a:pPr>
              <a:defRPr sz="2400" spc="-100">
                <a:latin typeface="Times New Roman"/>
                <a:ea typeface="Times New Roman"/>
                <a:cs typeface="Times New Roman"/>
                <a:sym typeface="Times New Roman"/>
              </a:defRPr>
            </a:pPr>
            <a:r>
              <a:t>Saga Pattern:</a:t>
            </a:r>
          </a:p>
          <a:p>
            <a:pPr marL="581526" lvl="1" indent="-200526">
              <a:spcBef>
                <a:spcPts val="500"/>
              </a:spcBef>
              <a:buClrTx/>
              <a:buFontTx/>
              <a:buChar char="•"/>
              <a:defRPr sz="2000" spc="-100">
                <a:latin typeface="Times New Roman"/>
                <a:ea typeface="Times New Roman"/>
                <a:cs typeface="Times New Roman"/>
                <a:sym typeface="Times New Roman"/>
              </a:defRPr>
            </a:pPr>
            <a:r>
              <a:t>Breaks transactions into smaller local operations</a:t>
            </a:r>
            <a:endParaRPr sz="2800" spc="-1"/>
          </a:p>
          <a:p>
            <a:pPr marL="581526" lvl="1" indent="-200526">
              <a:spcBef>
                <a:spcPts val="500"/>
              </a:spcBef>
              <a:buClrTx/>
              <a:buFontTx/>
              <a:buChar char="•"/>
              <a:defRPr sz="2000" spc="-100">
                <a:latin typeface="Times New Roman"/>
                <a:ea typeface="Times New Roman"/>
                <a:cs typeface="Times New Roman"/>
                <a:sym typeface="Times New Roman"/>
              </a:defRPr>
            </a:pPr>
            <a:r>
              <a:t>Uses compensating actions for rollback</a:t>
            </a:r>
            <a:endParaRPr sz="2800" spc="-1"/>
          </a:p>
          <a:p>
            <a:pPr marL="581526" lvl="1" indent="-200526">
              <a:spcBef>
                <a:spcPts val="500"/>
              </a:spcBef>
              <a:buClrTx/>
              <a:buFontTx/>
              <a:buChar char="•"/>
              <a:defRPr sz="2000" spc="-100">
                <a:latin typeface="Times New Roman"/>
                <a:ea typeface="Times New Roman"/>
                <a:cs typeface="Times New Roman"/>
                <a:sym typeface="Times New Roman"/>
              </a:defRPr>
            </a:pPr>
            <a:r>
              <a:t>Improves fault tolerance and scalability</a:t>
            </a:r>
            <a:endParaRPr sz="2800" spc="-1"/>
          </a:p>
          <a:p>
            <a:pPr marL="581526" lvl="1" indent="-200526">
              <a:spcBef>
                <a:spcPts val="500"/>
              </a:spcBef>
              <a:buClrTx/>
              <a:buFontTx/>
              <a:buChar char="•"/>
              <a:defRPr sz="2000" spc="-100">
                <a:latin typeface="Times New Roman"/>
                <a:ea typeface="Times New Roman"/>
                <a:cs typeface="Times New Roman"/>
                <a:sym typeface="Times New Roman"/>
              </a:defRPr>
            </a:pPr>
            <a:r>
              <a:t>Introduces higher implementation complexity</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5" name="Title 1"/>
          <p:cNvSpPr txBox="1">
            <a:spLocks noGrp="1"/>
          </p:cNvSpPr>
          <p:nvPr>
            <p:ph type="title"/>
          </p:nvPr>
        </p:nvSpPr>
        <p:spPr>
          <a:xfrm>
            <a:off x="-1" y="0"/>
            <a:ext cx="8030310" cy="914400"/>
          </a:xfrm>
          <a:prstGeom prst="rect">
            <a:avLst/>
          </a:prstGeom>
        </p:spPr>
        <p:txBody>
          <a:bodyPr/>
          <a:lstStyle>
            <a:lvl1pPr algn="l">
              <a:defRPr sz="4400" spc="-146">
                <a:latin typeface="Times New Roman"/>
                <a:ea typeface="Times New Roman"/>
                <a:cs typeface="Times New Roman"/>
                <a:sym typeface="Times New Roman"/>
              </a:defRPr>
            </a:lvl1pPr>
          </a:lstStyle>
          <a:p>
            <a:r>
              <a:t>Fault Tolerance Challenges</a:t>
            </a:r>
          </a:p>
        </p:txBody>
      </p:sp>
      <p:sp>
        <p:nvSpPr>
          <p:cNvPr id="346"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Partial failures occur when some services fail while others continue</a:t>
            </a:r>
          </a:p>
          <a:p>
            <a:pPr>
              <a:defRPr sz="2400" spc="-100">
                <a:latin typeface="Times New Roman"/>
                <a:ea typeface="Times New Roman"/>
                <a:cs typeface="Times New Roman"/>
                <a:sym typeface="Times New Roman"/>
              </a:defRPr>
            </a:pPr>
            <a:r>
              <a:t>Network communication introduces latency and transient failures</a:t>
            </a:r>
          </a:p>
          <a:p>
            <a:pPr>
              <a:defRPr sz="2400" spc="-100">
                <a:latin typeface="Times New Roman"/>
                <a:ea typeface="Times New Roman"/>
                <a:cs typeface="Times New Roman"/>
                <a:sym typeface="Times New Roman"/>
              </a:defRPr>
            </a:pPr>
            <a:r>
              <a:t>Cascading failures can occur due to service dependencies</a:t>
            </a:r>
          </a:p>
          <a:p>
            <a:pPr>
              <a:defRPr sz="2400" spc="-100">
                <a:latin typeface="Times New Roman"/>
                <a:ea typeface="Times New Roman"/>
                <a:cs typeface="Times New Roman"/>
                <a:sym typeface="Times New Roman"/>
              </a:defRPr>
            </a:pPr>
            <a:r>
              <a:t>Retry mechanisms can sometimes worsen system overload</a:t>
            </a:r>
          </a:p>
          <a:p>
            <a:pPr>
              <a:defRPr sz="2400" spc="-100">
                <a:latin typeface="Times New Roman"/>
                <a:ea typeface="Times New Roman"/>
                <a:cs typeface="Times New Roman"/>
                <a:sym typeface="Times New Roman"/>
              </a:defRPr>
            </a:pPr>
            <a:r>
              <a:t>Increasing system size makes dependency management complex</a:t>
            </a: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Title 1"/>
          <p:cNvSpPr txBox="1">
            <a:spLocks noGrp="1"/>
          </p:cNvSpPr>
          <p:nvPr>
            <p:ph type="title"/>
          </p:nvPr>
        </p:nvSpPr>
        <p:spPr>
          <a:xfrm>
            <a:off x="-1" y="0"/>
            <a:ext cx="6998676" cy="914400"/>
          </a:xfrm>
          <a:prstGeom prst="rect">
            <a:avLst/>
          </a:prstGeom>
        </p:spPr>
        <p:txBody>
          <a:bodyPr/>
          <a:lstStyle>
            <a:lvl1pPr algn="l">
              <a:defRPr sz="4400" spc="-146">
                <a:latin typeface="Times New Roman"/>
                <a:ea typeface="Times New Roman"/>
                <a:cs typeface="Times New Roman"/>
                <a:sym typeface="Times New Roman"/>
              </a:defRPr>
            </a:lvl1pPr>
          </a:lstStyle>
          <a:p>
            <a:r>
              <a:t>Fault Tolerance Mechanisms </a:t>
            </a:r>
          </a:p>
        </p:txBody>
      </p:sp>
      <p:sp>
        <p:nvSpPr>
          <p:cNvPr id="351"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Circuit Breaker pattern prevents repeated calls to failing services</a:t>
            </a:r>
          </a:p>
          <a:p>
            <a:pPr>
              <a:defRPr sz="2400" spc="-100">
                <a:latin typeface="Times New Roman"/>
                <a:ea typeface="Times New Roman"/>
                <a:cs typeface="Times New Roman"/>
                <a:sym typeface="Times New Roman"/>
              </a:defRPr>
            </a:pPr>
            <a:r>
              <a:t>Retry and timeout mechanisms handle temporary failures</a:t>
            </a:r>
          </a:p>
          <a:p>
            <a:pPr>
              <a:defRPr sz="2400" spc="-100">
                <a:latin typeface="Times New Roman"/>
                <a:ea typeface="Times New Roman"/>
                <a:cs typeface="Times New Roman"/>
                <a:sym typeface="Times New Roman"/>
              </a:defRPr>
            </a:pPr>
            <a:r>
              <a:t>Service replication improves availability and load distribution</a:t>
            </a:r>
          </a:p>
          <a:p>
            <a:pPr>
              <a:defRPr sz="2400" spc="-100">
                <a:latin typeface="Times New Roman"/>
                <a:ea typeface="Times New Roman"/>
                <a:cs typeface="Times New Roman"/>
                <a:sym typeface="Times New Roman"/>
              </a:defRPr>
            </a:pPr>
            <a:r>
              <a:t>Asynchronous communication reduces tight coupling between services</a:t>
            </a:r>
          </a:p>
          <a:p>
            <a:pPr>
              <a:defRPr sz="2400" spc="-100">
                <a:latin typeface="Times New Roman"/>
                <a:ea typeface="Times New Roman"/>
                <a:cs typeface="Times New Roman"/>
                <a:sym typeface="Times New Roman"/>
              </a:defRPr>
            </a:pPr>
            <a:r>
              <a:t>Monitoring and health checks improve system resilience</a:t>
            </a:r>
          </a:p>
          <a:p>
            <a:pPr>
              <a:defRPr sz="2400" spc="-100">
                <a:latin typeface="Times New Roman"/>
                <a:ea typeface="Times New Roman"/>
                <a:cs typeface="Times New Roman"/>
                <a:sym typeface="Times New Roman"/>
              </a:defRPr>
            </a:pPr>
            <a:r>
              <a:t>Combination of multiple mechanisms provides better fault handling</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5"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Comparative Analysis</a:t>
            </a:r>
          </a:p>
        </p:txBody>
      </p:sp>
      <p:graphicFrame>
        <p:nvGraphicFramePr>
          <p:cNvPr id="356" name="Table 10"/>
          <p:cNvGraphicFramePr/>
          <p:nvPr/>
        </p:nvGraphicFramePr>
        <p:xfrm>
          <a:off x="189188" y="950962"/>
          <a:ext cx="4256689" cy="5465605"/>
        </p:xfrm>
        <a:graphic>
          <a:graphicData uri="http://schemas.openxmlformats.org/drawingml/2006/table">
            <a:tbl>
              <a:tblPr firstRow="1" firstCol="1" bandRow="1">
                <a:tableStyleId>{4C3C2611-4C71-4FC5-86AE-919BDF0F9419}</a:tableStyleId>
              </a:tblPr>
              <a:tblGrid>
                <a:gridCol w="1481956">
                  <a:extLst>
                    <a:ext uri="{9D8B030D-6E8A-4147-A177-3AD203B41FA5}">
                      <a16:colId xmlns:a16="http://schemas.microsoft.com/office/drawing/2014/main" val="20000"/>
                    </a:ext>
                  </a:extLst>
                </a:gridCol>
                <a:gridCol w="1355543">
                  <a:extLst>
                    <a:ext uri="{9D8B030D-6E8A-4147-A177-3AD203B41FA5}">
                      <a16:colId xmlns:a16="http://schemas.microsoft.com/office/drawing/2014/main" val="20001"/>
                    </a:ext>
                  </a:extLst>
                </a:gridCol>
                <a:gridCol w="1419188">
                  <a:extLst>
                    <a:ext uri="{9D8B030D-6E8A-4147-A177-3AD203B41FA5}">
                      <a16:colId xmlns:a16="http://schemas.microsoft.com/office/drawing/2014/main" val="20002"/>
                    </a:ext>
                  </a:extLst>
                </a:gridCol>
              </a:tblGrid>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Aspect</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Strong Consistency</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Eventual Consistency</a:t>
                      </a:r>
                    </a:p>
                  </a:txBody>
                  <a:tcPr marL="0" marR="0" marT="0" marB="0" anchor="ctr" horzOverflow="overflow"/>
                </a:tc>
                <a:extLst>
                  <a:ext uri="{0D108BD9-81ED-4DB2-BD59-A6C34878D82A}">
                    <a16:rowId xmlns:a16="http://schemas.microsoft.com/office/drawing/2014/main" val="10000"/>
                  </a:ext>
                </a:extLst>
              </a:tr>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Data correctness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Immediate</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Temporary inconsistencies</a:t>
                      </a:r>
                    </a:p>
                  </a:txBody>
                  <a:tcPr marL="0" marR="0" marT="0" marB="0" anchor="ctr" horzOverflow="overflow"/>
                </a:tc>
                <a:extLst>
                  <a:ext uri="{0D108BD9-81ED-4DB2-BD59-A6C34878D82A}">
                    <a16:rowId xmlns:a16="http://schemas.microsoft.com/office/drawing/2014/main" val="10001"/>
                  </a:ext>
                </a:extLst>
              </a:tr>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Availability</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Lower</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Higher</a:t>
                      </a:r>
                    </a:p>
                  </a:txBody>
                  <a:tcPr marL="0" marR="0" marT="0" marB="0" anchor="ctr" horzOverflow="overflow"/>
                </a:tc>
                <a:extLst>
                  <a:ext uri="{0D108BD9-81ED-4DB2-BD59-A6C34878D82A}">
                    <a16:rowId xmlns:a16="http://schemas.microsoft.com/office/drawing/2014/main" val="10002"/>
                  </a:ext>
                </a:extLst>
              </a:tr>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Scalability</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Limited</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High</a:t>
                      </a:r>
                    </a:p>
                  </a:txBody>
                  <a:tcPr marL="0" marR="0" marT="0" marB="0" anchor="ctr" horzOverflow="overflow"/>
                </a:tc>
                <a:extLst>
                  <a:ext uri="{0D108BD9-81ED-4DB2-BD59-A6C34878D82A}">
                    <a16:rowId xmlns:a16="http://schemas.microsoft.com/office/drawing/2014/main" val="10003"/>
                  </a:ext>
                </a:extLst>
              </a:tr>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Fault tolerance</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Weaker under failures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Better resilience</a:t>
                      </a:r>
                    </a:p>
                  </a:txBody>
                  <a:tcPr marL="0" marR="0" marT="0" marB="0" anchor="ctr" horzOverflow="overflow"/>
                </a:tc>
                <a:extLst>
                  <a:ext uri="{0D108BD9-81ED-4DB2-BD59-A6C34878D82A}">
                    <a16:rowId xmlns:a16="http://schemas.microsoft.com/office/drawing/2014/main" val="10004"/>
                  </a:ext>
                </a:extLst>
              </a:tr>
              <a:tr h="910934">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Implementation complexity</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High (coordination required)</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High (application-level handling)</a:t>
                      </a:r>
                    </a:p>
                  </a:txBody>
                  <a:tcPr marL="0" marR="0" marT="0" marB="0" anchor="ctr" horzOverflow="overflow"/>
                </a:tc>
                <a:extLst>
                  <a:ext uri="{0D108BD9-81ED-4DB2-BD59-A6C34878D82A}">
                    <a16:rowId xmlns:a16="http://schemas.microsoft.com/office/drawing/2014/main" val="10005"/>
                  </a:ext>
                </a:extLst>
              </a:tr>
            </a:tbl>
          </a:graphicData>
        </a:graphic>
      </p:graphicFrame>
      <p:graphicFrame>
        <p:nvGraphicFramePr>
          <p:cNvPr id="357" name="Table 11"/>
          <p:cNvGraphicFramePr/>
          <p:nvPr/>
        </p:nvGraphicFramePr>
        <p:xfrm>
          <a:off x="4572000" y="950962"/>
          <a:ext cx="4382812" cy="2478037"/>
        </p:xfrm>
        <a:graphic>
          <a:graphicData uri="http://schemas.openxmlformats.org/drawingml/2006/table">
            <a:tbl>
              <a:tblPr firstRow="1" firstCol="1" bandRow="1">
                <a:tableStyleId>{4C3C2611-4C71-4FC5-86AE-919BDF0F9419}</a:tableStyleId>
              </a:tblPr>
              <a:tblGrid>
                <a:gridCol w="1460336">
                  <a:extLst>
                    <a:ext uri="{9D8B030D-6E8A-4147-A177-3AD203B41FA5}">
                      <a16:colId xmlns:a16="http://schemas.microsoft.com/office/drawing/2014/main" val="20000"/>
                    </a:ext>
                  </a:extLst>
                </a:gridCol>
                <a:gridCol w="1461238">
                  <a:extLst>
                    <a:ext uri="{9D8B030D-6E8A-4147-A177-3AD203B41FA5}">
                      <a16:colId xmlns:a16="http://schemas.microsoft.com/office/drawing/2014/main" val="20001"/>
                    </a:ext>
                  </a:extLst>
                </a:gridCol>
                <a:gridCol w="1461238">
                  <a:extLst>
                    <a:ext uri="{9D8B030D-6E8A-4147-A177-3AD203B41FA5}">
                      <a16:colId xmlns:a16="http://schemas.microsoft.com/office/drawing/2014/main" val="20002"/>
                    </a:ext>
                  </a:extLst>
                </a:gridCol>
              </a:tblGrid>
              <a:tr h="826012">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Transaction Model</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Advantages</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Limitations</a:t>
                      </a:r>
                    </a:p>
                  </a:txBody>
                  <a:tcPr marL="0" marR="0" marT="0" marB="0" anchor="ctr" horzOverflow="overflow"/>
                </a:tc>
                <a:extLst>
                  <a:ext uri="{0D108BD9-81ED-4DB2-BD59-A6C34878D82A}">
                    <a16:rowId xmlns:a16="http://schemas.microsoft.com/office/drawing/2014/main" val="10000"/>
                  </a:ext>
                </a:extLst>
              </a:tr>
              <a:tr h="826012">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Two-Phase Commit (2PC)</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Atomicity guarantees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Blocking, failure-prone</a:t>
                      </a:r>
                    </a:p>
                  </a:txBody>
                  <a:tcPr marL="0" marR="0" marT="0" marB="0" anchor="ctr" horzOverflow="overflow"/>
                </a:tc>
                <a:extLst>
                  <a:ext uri="{0D108BD9-81ED-4DB2-BD59-A6C34878D82A}">
                    <a16:rowId xmlns:a16="http://schemas.microsoft.com/office/drawing/2014/main" val="10001"/>
                  </a:ext>
                </a:extLst>
              </a:tr>
              <a:tr h="826012">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Saga Pattern</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Fault-tolerant, scalable</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Complex compensation logic</a:t>
                      </a:r>
                    </a:p>
                  </a:txBody>
                  <a:tcPr marL="0" marR="0" marT="0" marB="0" anchor="ctr" horzOverflow="overflow"/>
                </a:tc>
                <a:extLst>
                  <a:ext uri="{0D108BD9-81ED-4DB2-BD59-A6C34878D82A}">
                    <a16:rowId xmlns:a16="http://schemas.microsoft.com/office/drawing/2014/main" val="10002"/>
                  </a:ext>
                </a:extLst>
              </a:tr>
            </a:tbl>
          </a:graphicData>
        </a:graphic>
      </p:graphicFrame>
      <p:graphicFrame>
        <p:nvGraphicFramePr>
          <p:cNvPr id="358" name="Table 12"/>
          <p:cNvGraphicFramePr/>
          <p:nvPr/>
        </p:nvGraphicFramePr>
        <p:xfrm>
          <a:off x="4565915" y="3859698"/>
          <a:ext cx="4382812" cy="2478037"/>
        </p:xfrm>
        <a:graphic>
          <a:graphicData uri="http://schemas.openxmlformats.org/drawingml/2006/table">
            <a:tbl>
              <a:tblPr firstRow="1" firstCol="1" bandRow="1">
                <a:tableStyleId>{4C3C2611-4C71-4FC5-86AE-919BDF0F9419}</a:tableStyleId>
              </a:tblPr>
              <a:tblGrid>
                <a:gridCol w="1460335">
                  <a:extLst>
                    <a:ext uri="{9D8B030D-6E8A-4147-A177-3AD203B41FA5}">
                      <a16:colId xmlns:a16="http://schemas.microsoft.com/office/drawing/2014/main" val="20000"/>
                    </a:ext>
                  </a:extLst>
                </a:gridCol>
                <a:gridCol w="1461238">
                  <a:extLst>
                    <a:ext uri="{9D8B030D-6E8A-4147-A177-3AD203B41FA5}">
                      <a16:colId xmlns:a16="http://schemas.microsoft.com/office/drawing/2014/main" val="20001"/>
                    </a:ext>
                  </a:extLst>
                </a:gridCol>
                <a:gridCol w="1461238">
                  <a:extLst>
                    <a:ext uri="{9D8B030D-6E8A-4147-A177-3AD203B41FA5}">
                      <a16:colId xmlns:a16="http://schemas.microsoft.com/office/drawing/2014/main" val="20002"/>
                    </a:ext>
                  </a:extLst>
                </a:gridCol>
              </a:tblGrid>
              <a:tr h="619509">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Fault Tolerance Technique</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Strengths</a:t>
                      </a:r>
                    </a:p>
                  </a:txBody>
                  <a:tcPr marL="0" marR="0" marT="0" marB="0" anchor="ctr" horzOverflow="overflow"/>
                </a:tc>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Weaknesses</a:t>
                      </a:r>
                    </a:p>
                  </a:txBody>
                  <a:tcPr marL="0" marR="0" marT="0" marB="0" anchor="ctr" horzOverflow="overflow"/>
                </a:tc>
                <a:extLst>
                  <a:ext uri="{0D108BD9-81ED-4DB2-BD59-A6C34878D82A}">
                    <a16:rowId xmlns:a16="http://schemas.microsoft.com/office/drawing/2014/main" val="10000"/>
                  </a:ext>
                </a:extLst>
              </a:tr>
              <a:tr h="619509">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Retries &amp; Timeouts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Simple</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Can amplify failures</a:t>
                      </a:r>
                    </a:p>
                  </a:txBody>
                  <a:tcPr marL="0" marR="0" marT="0" marB="0" anchor="ctr" horzOverflow="overflow"/>
                </a:tc>
                <a:extLst>
                  <a:ext uri="{0D108BD9-81ED-4DB2-BD59-A6C34878D82A}">
                    <a16:rowId xmlns:a16="http://schemas.microsoft.com/office/drawing/2014/main" val="10001"/>
                  </a:ext>
                </a:extLst>
              </a:tr>
              <a:tr h="619509">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Circuit Breakers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Prevent cascading failures</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Configuration overhead</a:t>
                      </a:r>
                    </a:p>
                  </a:txBody>
                  <a:tcPr marL="0" marR="0" marT="0" marB="0" anchor="ctr" horzOverflow="overflow"/>
                </a:tc>
                <a:extLst>
                  <a:ext uri="{0D108BD9-81ED-4DB2-BD59-A6C34878D82A}">
                    <a16:rowId xmlns:a16="http://schemas.microsoft.com/office/drawing/2014/main" val="10002"/>
                  </a:ext>
                </a:extLst>
              </a:tr>
              <a:tr h="619509">
                <a:tc>
                  <a:txBody>
                    <a:bodyPr/>
                    <a:lstStyle/>
                    <a:p>
                      <a:pPr algn="ctr">
                        <a:lnSpc>
                          <a:spcPct val="95000"/>
                        </a:lnSpc>
                        <a:spcBef>
                          <a:spcPts val="600"/>
                        </a:spcBef>
                        <a:defRPr sz="1800" b="0" spc="0">
                          <a:solidFill>
                            <a:srgbClr val="000000"/>
                          </a:solidFill>
                        </a:defRPr>
                      </a:pPr>
                      <a:r>
                        <a:rPr sz="1500" b="1">
                          <a:solidFill>
                            <a:srgbClr val="FFFFFF"/>
                          </a:solidFill>
                          <a:latin typeface="Times New Roman"/>
                          <a:ea typeface="Times New Roman"/>
                          <a:cs typeface="Times New Roman"/>
                          <a:sym typeface="Times New Roman"/>
                        </a:rPr>
                        <a:t>Replication</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High availability</a:t>
                      </a:r>
                    </a:p>
                  </a:txBody>
                  <a:tcPr marL="0" marR="0" marT="0" marB="0" anchor="ctr" horzOverflow="overflow"/>
                </a:tc>
                <a:tc>
                  <a:txBody>
                    <a:bodyPr/>
                    <a:lstStyle/>
                    <a:p>
                      <a:pPr algn="ctr">
                        <a:lnSpc>
                          <a:spcPct val="95000"/>
                        </a:lnSpc>
                        <a:spcBef>
                          <a:spcPts val="600"/>
                        </a:spcBef>
                        <a:defRPr sz="1800" spc="0"/>
                      </a:pPr>
                      <a:r>
                        <a:rPr sz="1500">
                          <a:latin typeface="Times New Roman"/>
                          <a:ea typeface="Times New Roman"/>
                          <a:cs typeface="Times New Roman"/>
                          <a:sym typeface="Times New Roman"/>
                        </a:rPr>
                        <a:t>Resource cost</a:t>
                      </a:r>
                    </a:p>
                  </a:txBody>
                  <a:tcPr marL="0" marR="0" marT="0" marB="0" anchor="ctr" horzOverflow="overflow"/>
                </a:tc>
                <a:extLst>
                  <a:ext uri="{0D108BD9-81ED-4DB2-BD59-A6C34878D82A}">
                    <a16:rowId xmlns:a16="http://schemas.microsoft.com/office/drawing/2014/main" val="10003"/>
                  </a:ext>
                </a:extLst>
              </a:tr>
            </a:tbl>
          </a:graphicData>
        </a:graphic>
      </p:graphicFrame>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Key Findings</a:t>
            </a:r>
          </a:p>
        </p:txBody>
      </p:sp>
      <p:sp>
        <p:nvSpPr>
          <p:cNvPr id="363"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Eventual consistency is preferred in large-scale microservices systems</a:t>
            </a:r>
          </a:p>
          <a:p>
            <a:pPr>
              <a:defRPr sz="2400" spc="-100">
                <a:latin typeface="Times New Roman"/>
                <a:ea typeface="Times New Roman"/>
                <a:cs typeface="Times New Roman"/>
                <a:sym typeface="Times New Roman"/>
              </a:defRPr>
            </a:pPr>
            <a:r>
              <a:t>Saga pattern is more practical than Two-Phase Commit</a:t>
            </a:r>
          </a:p>
          <a:p>
            <a:pPr>
              <a:defRPr sz="2400" spc="-100">
                <a:latin typeface="Times New Roman"/>
                <a:ea typeface="Times New Roman"/>
                <a:cs typeface="Times New Roman"/>
                <a:sym typeface="Times New Roman"/>
              </a:defRPr>
            </a:pPr>
            <a:r>
              <a:t>Circuit breakers are effective in preventing cascading failures</a:t>
            </a:r>
          </a:p>
          <a:p>
            <a:pPr>
              <a:defRPr sz="2400" spc="-100">
                <a:latin typeface="Times New Roman"/>
                <a:ea typeface="Times New Roman"/>
                <a:cs typeface="Times New Roman"/>
                <a:sym typeface="Times New Roman"/>
              </a:defRPr>
            </a:pPr>
            <a:r>
              <a:t>Combining multiple resilience patterns improves reliability</a:t>
            </a:r>
          </a:p>
          <a:p>
            <a:pPr>
              <a:defRPr sz="2400" spc="-100">
                <a:latin typeface="Times New Roman"/>
                <a:ea typeface="Times New Roman"/>
                <a:cs typeface="Times New Roman"/>
                <a:sym typeface="Times New Roman"/>
              </a:defRPr>
            </a:pPr>
            <a:r>
              <a:t>Trade-offs between consistency, availability, and fault tolerance are unavoidable</a:t>
            </a:r>
          </a:p>
          <a:p>
            <a:pPr>
              <a:defRPr sz="2400" spc="-100">
                <a:latin typeface="Times New Roman"/>
                <a:ea typeface="Times New Roman"/>
                <a:cs typeface="Times New Roman"/>
                <a:sym typeface="Times New Roman"/>
              </a:defRPr>
            </a:pPr>
            <a:r>
              <a:t>System design decisions depend on specific use-case requirements</a:t>
            </a: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Conclusion</a:t>
            </a:r>
          </a:p>
        </p:txBody>
      </p:sp>
      <p:sp>
        <p:nvSpPr>
          <p:cNvPr id="368"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Microservices architecture provides scalability and flexibility but introduces complexity</a:t>
            </a:r>
          </a:p>
          <a:p>
            <a:pPr>
              <a:defRPr sz="2400" spc="-100">
                <a:latin typeface="Times New Roman"/>
                <a:ea typeface="Times New Roman"/>
                <a:cs typeface="Times New Roman"/>
                <a:sym typeface="Times New Roman"/>
              </a:defRPr>
            </a:pPr>
            <a:r>
              <a:t>Maintaining data consistency in distributed systems remains a major challenge</a:t>
            </a:r>
          </a:p>
          <a:p>
            <a:pPr>
              <a:defRPr sz="2400" spc="-100">
                <a:latin typeface="Times New Roman"/>
                <a:ea typeface="Times New Roman"/>
                <a:cs typeface="Times New Roman"/>
                <a:sym typeface="Times New Roman"/>
              </a:defRPr>
            </a:pPr>
            <a:r>
              <a:t>Fault tolerance is essential to prevent system-wide failures</a:t>
            </a:r>
          </a:p>
          <a:p>
            <a:pPr>
              <a:defRPr sz="2400" spc="-100">
                <a:latin typeface="Times New Roman"/>
                <a:ea typeface="Times New Roman"/>
                <a:cs typeface="Times New Roman"/>
                <a:sym typeface="Times New Roman"/>
              </a:defRPr>
            </a:pPr>
            <a:r>
              <a:t>No single approach can optimize all system requirements</a:t>
            </a:r>
          </a:p>
          <a:p>
            <a:pPr>
              <a:defRPr sz="2400" spc="-100">
                <a:latin typeface="Times New Roman"/>
                <a:ea typeface="Times New Roman"/>
                <a:cs typeface="Times New Roman"/>
                <a:sym typeface="Times New Roman"/>
              </a:defRPr>
            </a:pPr>
            <a:r>
              <a:t>Effective architectures rely on a combination of strategies</a:t>
            </a:r>
          </a:p>
          <a:p>
            <a:pPr>
              <a:defRPr sz="2400" spc="-100">
                <a:latin typeface="Times New Roman"/>
                <a:ea typeface="Times New Roman"/>
                <a:cs typeface="Times New Roman"/>
                <a:sym typeface="Times New Roman"/>
              </a:defRPr>
            </a:pPr>
            <a:r>
              <a:t>Design decisions must balance consistency, availability, and scalability</a:t>
            </a: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Title 1"/>
          <p:cNvSpPr txBox="1">
            <a:spLocks noGrp="1"/>
          </p:cNvSpPr>
          <p:nvPr>
            <p:ph type="title"/>
          </p:nvPr>
        </p:nvSpPr>
        <p:spPr>
          <a:xfrm>
            <a:off x="0" y="-1"/>
            <a:ext cx="5486040" cy="914042"/>
          </a:xfrm>
          <a:prstGeom prst="rect">
            <a:avLst/>
          </a:prstGeom>
        </p:spPr>
        <p:txBody>
          <a:bodyPr/>
          <a:lstStyle>
            <a:lvl1pPr algn="l">
              <a:defRPr sz="4400" spc="-146">
                <a:latin typeface="Times New Roman"/>
                <a:ea typeface="Times New Roman"/>
                <a:cs typeface="Times New Roman"/>
                <a:sym typeface="Times New Roman"/>
              </a:defRPr>
            </a:lvl1pPr>
          </a:lstStyle>
          <a:p>
            <a:r>
              <a:t>Future Scope</a:t>
            </a:r>
          </a:p>
        </p:txBody>
      </p:sp>
      <p:sp>
        <p:nvSpPr>
          <p:cNvPr id="373" name="Subtitle 2"/>
          <p:cNvSpPr txBox="1">
            <a:spLocks noGrp="1"/>
          </p:cNvSpPr>
          <p:nvPr>
            <p:ph type="body" idx="1"/>
          </p:nvPr>
        </p:nvSpPr>
        <p:spPr>
          <a:xfrm>
            <a:off x="457200" y="1604962"/>
            <a:ext cx="8229600" cy="3976688"/>
          </a:xfrm>
          <a:prstGeom prst="rect">
            <a:avLst/>
          </a:prstGeom>
        </p:spPr>
        <p:txBody>
          <a:bodyPr/>
          <a:lstStyle/>
          <a:p>
            <a:pPr>
              <a:defRPr sz="2400" spc="-100">
                <a:latin typeface="Times New Roman"/>
                <a:ea typeface="Times New Roman"/>
                <a:cs typeface="Times New Roman"/>
                <a:sym typeface="Times New Roman"/>
              </a:defRPr>
            </a:pPr>
            <a:r>
              <a:t>Development of standardized frameworks for evaluating consistency and fault tolerance</a:t>
            </a:r>
          </a:p>
          <a:p>
            <a:pPr>
              <a:defRPr sz="2400" spc="-100">
                <a:latin typeface="Times New Roman"/>
                <a:ea typeface="Times New Roman"/>
                <a:cs typeface="Times New Roman"/>
                <a:sym typeface="Times New Roman"/>
              </a:defRPr>
            </a:pPr>
            <a:r>
              <a:t>Increased focus on real-world implementation and validation</a:t>
            </a:r>
          </a:p>
          <a:p>
            <a:pPr>
              <a:defRPr sz="2400" spc="-100">
                <a:latin typeface="Times New Roman"/>
                <a:ea typeface="Times New Roman"/>
                <a:cs typeface="Times New Roman"/>
                <a:sym typeface="Times New Roman"/>
              </a:defRPr>
            </a:pPr>
            <a:r>
              <a:t>Reducing complexity of distributed transaction management</a:t>
            </a:r>
          </a:p>
          <a:p>
            <a:pPr>
              <a:defRPr sz="2400" spc="-100">
                <a:latin typeface="Times New Roman"/>
                <a:ea typeface="Times New Roman"/>
                <a:cs typeface="Times New Roman"/>
                <a:sym typeface="Times New Roman"/>
              </a:defRPr>
            </a:pPr>
            <a:r>
              <a:t>Exploring AI-based fault prediction and automated recovery systems</a:t>
            </a:r>
          </a:p>
          <a:p>
            <a:pPr>
              <a:defRPr sz="2400" spc="-100">
                <a:latin typeface="Times New Roman"/>
                <a:ea typeface="Times New Roman"/>
                <a:cs typeface="Times New Roman"/>
                <a:sym typeface="Times New Roman"/>
              </a:defRPr>
            </a:pPr>
            <a:r>
              <a:t>Advancements in self-healing microservices architectures</a:t>
            </a:r>
          </a:p>
        </p:txBody>
      </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TextShape 1"/>
          <p:cNvSpPr txBox="1"/>
          <p:nvPr/>
        </p:nvSpPr>
        <p:spPr>
          <a:xfrm>
            <a:off x="1343296" y="3059287"/>
            <a:ext cx="6614160" cy="9353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lgn="ctr">
              <a:defRPr sz="6000">
                <a:latin typeface="Times New Roman"/>
                <a:ea typeface="Times New Roman"/>
                <a:cs typeface="Times New Roman"/>
                <a:sym typeface="Times New Roman"/>
              </a:defRPr>
            </a:lvl1pPr>
          </a:lstStyle>
          <a:p>
            <a:r>
              <a:t>Thank You</a:t>
            </a:r>
          </a:p>
        </p:txBody>
      </p:sp>
      <p:sp>
        <p:nvSpPr>
          <p:cNvPr id="378" name="TextShape 3"/>
          <p:cNvSpPr txBox="1">
            <a:spLocks noGrp="1"/>
          </p:cNvSpPr>
          <p:nvPr>
            <p:ph type="sldNum" sz="quarter" idx="4294967295"/>
          </p:nvPr>
        </p:nvSpPr>
        <p:spPr>
          <a:xfrm>
            <a:off x="8428069" y="6414707"/>
            <a:ext cx="258371" cy="24830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lvl1pPr>
              <a:defRPr b="1">
                <a:solidFill>
                  <a:srgbClr val="000000"/>
                </a:solidFill>
              </a:defRPr>
            </a:lvl1pPr>
          </a:lstStyle>
          <a:p>
            <a:fld id="{86CB4B4D-7CA3-9044-876B-883B54F8677D}" type="slidenum">
              <a:t>14</a:t>
            </a:fld>
            <a:endParaRPr/>
          </a:p>
        </p:txBody>
      </p:sp>
      <p:sp>
        <p:nvSpPr>
          <p:cNvPr id="379" name="TextBox 1"/>
          <p:cNvSpPr txBox="1"/>
          <p:nvPr/>
        </p:nvSpPr>
        <p:spPr>
          <a:xfrm>
            <a:off x="45719" y="6356520"/>
            <a:ext cx="4701278" cy="31140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1600">
                <a:latin typeface="Times New Roman"/>
                <a:ea typeface="Times New Roman"/>
                <a:cs typeface="Times New Roman"/>
                <a:sym typeface="Times New Roman"/>
              </a:defRPr>
            </a:lvl1pPr>
          </a:lstStyle>
          <a:p>
            <a:r>
              <a:t>References available in the submitted paper.</a:t>
            </a:r>
          </a:p>
        </p:txBody>
      </p:sp>
    </p:spTree>
  </p:cSld>
  <p:clrMapOvr>
    <a:masterClrMapping/>
  </p:clrMapOvr>
  <p:transition spd="me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3000" dir="5400000" rotWithShape="0">
              <a:srgbClr val="000000">
                <a:alpha val="35000"/>
              </a:srgbClr>
            </a:outerShdw>
          </a:effectLst>
        </a:effectStyle>
        <a:effectStyle>
          <a:effectLst>
            <a:outerShdw blurRad="38100" dist="23000" dir="5400000" rotWithShape="0">
              <a:srgbClr val="000000">
                <a:alpha val="35000"/>
              </a:srgbClr>
            </a:outerShdw>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outerShdw blurRad="38100" dist="230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miter lim="800000"/>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1162</Words>
  <Application>Microsoft Macintosh PowerPoint</Application>
  <PresentationFormat>On-screen Show (4:3)</PresentationFormat>
  <Paragraphs>153</Paragraphs>
  <Slides>14</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-webkit-standard</vt:lpstr>
      <vt:lpstr>Arial</vt:lpstr>
      <vt:lpstr>Calibri</vt:lpstr>
      <vt:lpstr>Times New Roman</vt:lpstr>
      <vt:lpstr>Office Theme</vt:lpstr>
      <vt:lpstr>PowerPoint Presentation</vt:lpstr>
      <vt:lpstr>Objective</vt:lpstr>
      <vt:lpstr>Background</vt:lpstr>
      <vt:lpstr>Problem Statement</vt:lpstr>
      <vt:lpstr>Methodology</vt:lpstr>
      <vt:lpstr>Data Consistency Findings</vt:lpstr>
      <vt:lpstr>Transaction Management</vt:lpstr>
      <vt:lpstr>Fault Tolerance Challenges</vt:lpstr>
      <vt:lpstr>Fault Tolerance Mechanisms </vt:lpstr>
      <vt:lpstr>Comparative Analysis</vt:lpstr>
      <vt:lpstr>Key Findings</vt:lpstr>
      <vt:lpstr>Conclusion</vt:lpstr>
      <vt:lpstr>Future Scope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Devang sethi</cp:lastModifiedBy>
  <cp:revision>1</cp:revision>
  <dcterms:modified xsi:type="dcterms:W3CDTF">2026-05-21T06:14:23Z</dcterms:modified>
</cp:coreProperties>
</file>