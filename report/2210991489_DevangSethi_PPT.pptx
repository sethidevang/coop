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media/image1.jpeg" ContentType="image/jpeg"/>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FD7E7"/>
          </a:solidFill>
        </a:fill>
      </a:tcStyle>
    </a:wholeTbl>
    <a:band2H>
      <a:tcTxStyle b="def" i="def"/>
      <a:tcStyle>
        <a:tcBdr/>
        <a:fill>
          <a:solidFill>
            <a:srgbClr val="E8ECF4"/>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EE7D0"/>
          </a:solidFill>
        </a:fill>
      </a:tcStyle>
    </a:wholeTbl>
    <a:band2H>
      <a:tcTxStyle b="def" i="def"/>
      <a:tcStyle>
        <a:tcBdr/>
        <a:fill>
          <a:solidFill>
            <a:srgbClr val="EFF3E9"/>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FCDCCE"/>
          </a:solidFill>
        </a:fill>
      </a:tcStyle>
    </a:wholeTbl>
    <a:band2H>
      <a:tcTxStyle b="def" i="def"/>
      <a:tcStyle>
        <a:tcBdr/>
        <a:fill>
          <a:solidFill>
            <a:srgbClr val="FDEEE8"/>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Arial"/>
          <a:ea typeface="Arial"/>
          <a:cs typeface="Arial"/>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Arial"/>
          <a:ea typeface="Arial"/>
          <a:cs typeface="Arial"/>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Arial"/>
          <a:ea typeface="Arial"/>
          <a:cs typeface="Arial"/>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Arial"/>
          <a:ea typeface="Arial"/>
          <a:cs typeface="Arial"/>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Arial"/>
          <a:ea typeface="Arial"/>
          <a:cs typeface="Arial"/>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Arial"/>
          <a:ea typeface="Arial"/>
          <a:cs typeface="Arial"/>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Arial"/>
          <a:ea typeface="Arial"/>
          <a:cs typeface="Arial"/>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310" name="Shape 310"/>
          <p:cNvSpPr/>
          <p:nvPr>
            <p:ph type="sldImg"/>
          </p:nvPr>
        </p:nvSpPr>
        <p:spPr>
          <a:xfrm>
            <a:off x="1143000" y="685800"/>
            <a:ext cx="4572000" cy="3429000"/>
          </a:xfrm>
          <a:prstGeom prst="rect">
            <a:avLst/>
          </a:prstGeom>
        </p:spPr>
        <p:txBody>
          <a:bodyPr/>
          <a:lstStyle/>
          <a:p>
            <a:pPr/>
          </a:p>
        </p:txBody>
      </p:sp>
      <p:sp>
        <p:nvSpPr>
          <p:cNvPr id="311" name="Shape 311"/>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3.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4.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5.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6.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7.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7" name="Shape 317"/>
          <p:cNvSpPr/>
          <p:nvPr>
            <p:ph type="sldImg"/>
          </p:nvPr>
        </p:nvSpPr>
        <p:spPr>
          <a:prstGeom prst="rect">
            <a:avLst/>
          </a:prstGeom>
        </p:spPr>
        <p:txBody>
          <a:bodyPr/>
          <a:lstStyle/>
          <a:p>
            <a:pPr/>
          </a:p>
        </p:txBody>
      </p:sp>
      <p:sp>
        <p:nvSpPr>
          <p:cNvPr id="318" name="Shape 318"/>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The objective of this study is to analyze how microservices handle data consistency and system failures. I also compare different architectural strategies and identify research gaps in current approaches.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2" name="Shape 322"/>
          <p:cNvSpPr/>
          <p:nvPr>
            <p:ph type="sldImg"/>
          </p:nvPr>
        </p:nvSpPr>
        <p:spPr>
          <a:prstGeom prst="rect">
            <a:avLst/>
          </a:prstGeom>
        </p:spPr>
        <p:txBody>
          <a:bodyPr/>
          <a:lstStyle/>
          <a:p>
            <a:pPr/>
          </a:p>
        </p:txBody>
      </p:sp>
      <p:sp>
        <p:nvSpPr>
          <p:cNvPr id="323" name="Shape 323"/>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Microservices architecture breaks applications into small independent services. This improves scalability and flexibility, but because everything is distributed, managing data and failures becomes much more complex.</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7" name="Shape 327"/>
          <p:cNvSpPr/>
          <p:nvPr>
            <p:ph type="sldImg"/>
          </p:nvPr>
        </p:nvSpPr>
        <p:spPr>
          <a:prstGeom prst="rect">
            <a:avLst/>
          </a:prstGeom>
        </p:spPr>
        <p:txBody>
          <a:bodyPr/>
          <a:lstStyle/>
          <a:p>
            <a:pPr/>
          </a:p>
        </p:txBody>
      </p:sp>
      <p:sp>
        <p:nvSpPr>
          <p:cNvPr id="328" name="Shape 328"/>
          <p:cNvSpPr/>
          <p:nvPr>
            <p:ph type="body" sz="quarter" idx="1"/>
          </p:nvPr>
        </p:nvSpPr>
        <p:spPr>
          <a:prstGeom prst="rect">
            <a:avLst/>
          </a:prstGeom>
        </p:spPr>
        <p:txBody>
          <a:bodyPr/>
          <a:lstStyle/>
          <a:p>
            <a:pPr/>
            <a:r>
              <a:t>T</a:t>
            </a:r>
            <a:r>
              <a:rPr>
                <a:solidFill>
                  <a:srgbClr val="FFFFFF"/>
                </a:solidFill>
                <a:latin typeface="-webkit-standard"/>
                <a:ea typeface="-webkit-standard"/>
                <a:cs typeface="-webkit-standard"/>
                <a:sym typeface="-webkit-standard"/>
              </a:rPr>
              <a:t>he main problem is that there is no centralized control. So maintaining consistent data across services is difficult. At the same time, failures like network issues or service crashes are unavoidable, leading to trade-offs between consistency, availability, and fault tolerance.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2" name="Shape 332"/>
          <p:cNvSpPr/>
          <p:nvPr>
            <p:ph type="sldImg"/>
          </p:nvPr>
        </p:nvSpPr>
        <p:spPr>
          <a:prstGeom prst="rect">
            <a:avLst/>
          </a:prstGeom>
        </p:spPr>
        <p:txBody>
          <a:bodyPr/>
          <a:lstStyle/>
          <a:p>
            <a:pPr/>
          </a:p>
        </p:txBody>
      </p:sp>
      <p:sp>
        <p:nvSpPr>
          <p:cNvPr id="333" name="Shape 333"/>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To address this, I used a Systematic Literature Review approach, analyzing research papers from 2016 to 2026 across major academic data sources. </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7" name="Shape 337"/>
          <p:cNvSpPr/>
          <p:nvPr>
            <p:ph type="sldImg"/>
          </p:nvPr>
        </p:nvSpPr>
        <p:spPr>
          <a:prstGeom prst="rect">
            <a:avLst/>
          </a:prstGeom>
        </p:spPr>
        <p:txBody>
          <a:bodyPr/>
          <a:lstStyle/>
          <a:p>
            <a:pPr/>
          </a:p>
        </p:txBody>
      </p:sp>
      <p:sp>
        <p:nvSpPr>
          <p:cNvPr id="338" name="Shape 338"/>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In microservices, strong consistency reduces scalability. So most systems adopt eventual consistency, where temporary inconsistencies are allowed but resolved over time.(example serve a is edited , the to view edits in service b takes few sec/sometime mins)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2" name="Shape 342"/>
          <p:cNvSpPr/>
          <p:nvPr>
            <p:ph type="sldImg"/>
          </p:nvPr>
        </p:nvSpPr>
        <p:spPr>
          <a:prstGeom prst="rect">
            <a:avLst/>
          </a:prstGeom>
        </p:spPr>
        <p:txBody>
          <a:bodyPr/>
          <a:lstStyle/>
          <a:p>
            <a:pPr/>
          </a:p>
        </p:txBody>
      </p:sp>
      <p:sp>
        <p:nvSpPr>
          <p:cNvPr id="343" name="Shape 343"/>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Traditional Two-Phase Commit ensures consistency but blocks the system during failures. Saga pattern is more practical as it breaks transactions into smaller steps and uses compensating actions.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7" name="Shape 347"/>
          <p:cNvSpPr/>
          <p:nvPr>
            <p:ph type="sldImg"/>
          </p:nvPr>
        </p:nvSpPr>
        <p:spPr>
          <a:prstGeom prst="rect">
            <a:avLst/>
          </a:prstGeom>
        </p:spPr>
        <p:txBody>
          <a:bodyPr/>
          <a:lstStyle/>
          <a:p>
            <a:pPr/>
          </a:p>
        </p:txBody>
      </p:sp>
      <p:sp>
        <p:nvSpPr>
          <p:cNvPr id="348" name="Shape 348"/>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Failures in microservices are often partial, meaning some services fail while others continue. This can lead to cascading failures if not handled properly.</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2" name="Shape 352"/>
          <p:cNvSpPr/>
          <p:nvPr>
            <p:ph type="sldImg"/>
          </p:nvPr>
        </p:nvSpPr>
        <p:spPr>
          <a:prstGeom prst="rect">
            <a:avLst/>
          </a:prstGeom>
        </p:spPr>
        <p:txBody>
          <a:bodyPr/>
          <a:lstStyle/>
          <a:p>
            <a:pPr/>
          </a:p>
        </p:txBody>
      </p:sp>
      <p:sp>
        <p:nvSpPr>
          <p:cNvPr id="353" name="Shape 353"/>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To handle failures, systems use design patterns like circuit breakers, retries, and replication. These prevent failures from spreading and improve system reliability.</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9" name="Shape 359"/>
          <p:cNvSpPr/>
          <p:nvPr>
            <p:ph type="sldImg"/>
          </p:nvPr>
        </p:nvSpPr>
        <p:spPr>
          <a:prstGeom prst="rect">
            <a:avLst/>
          </a:prstGeom>
        </p:spPr>
        <p:txBody>
          <a:bodyPr/>
          <a:lstStyle/>
          <a:p>
            <a:pPr/>
          </a:p>
        </p:txBody>
      </p:sp>
      <p:sp>
        <p:nvSpPr>
          <p:cNvPr id="360" name="Shape 360"/>
          <p:cNvSpPr/>
          <p:nvPr>
            <p:ph type="body" sz="quarter" idx="1"/>
          </p:nvPr>
        </p:nvSpPr>
        <p:spPr>
          <a:prstGeom prst="rect">
            <a:avLst/>
          </a:prstGeom>
        </p:spPr>
        <p:txBody>
          <a:bodyPr/>
          <a:lstStyle/>
          <a:p>
            <a:pPr>
              <a:defRPr>
                <a:latin typeface="-webkit-standard"/>
                <a:ea typeface="-webkit-standard"/>
                <a:cs typeface="-webkit-standard"/>
                <a:sym typeface="-webkit-standard"/>
              </a:defRPr>
            </a:pPr>
            <a:r>
              <a:t>This slide shows the main trade-offs.</a:t>
            </a:r>
            <a:br/>
            <a:r>
              <a:t>Strong consistency keeps data correct all the time, but it slows things down.</a:t>
            </a:r>
          </a:p>
          <a:p>
            <a:pPr>
              <a:defRPr>
                <a:latin typeface="-webkit-standard"/>
                <a:ea typeface="-webkit-standard"/>
                <a:cs typeface="-webkit-standard"/>
                <a:sym typeface="-webkit-standard"/>
              </a:defRPr>
            </a:pPr>
            <a:r>
              <a:t>Eventual consistency is faster and more scalable, but data can be temporarily inconsistent.</a:t>
            </a:r>
            <a:br/>
            <a:r>
              <a:t>Two-Phase Commit is reliable but not practical in distributed systems, while Saga is more flexible but a bit complex.</a:t>
            </a:r>
            <a:br/>
            <a:r>
              <a:t>For handling failures, retries are simple but can make things worse, circuit breakers help stop failures from spreading, and replication improves availability but uses more resources.</a:t>
            </a:r>
            <a:br/>
            <a:r>
              <a:t>So overall, there’s no perfect solution — systems usually combine different approaches based on their needs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4" name="Shape 364"/>
          <p:cNvSpPr/>
          <p:nvPr>
            <p:ph type="sldImg"/>
          </p:nvPr>
        </p:nvSpPr>
        <p:spPr>
          <a:prstGeom prst="rect">
            <a:avLst/>
          </a:prstGeom>
        </p:spPr>
        <p:txBody>
          <a:bodyPr/>
          <a:lstStyle/>
          <a:p>
            <a:pPr/>
          </a:p>
        </p:txBody>
      </p:sp>
      <p:sp>
        <p:nvSpPr>
          <p:cNvPr id="365" name="Shape 365"/>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The key finding is that no single approach works best. Systems must balance trade-offs, and combining multiple techniques gives better results.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9" name="Shape 369"/>
          <p:cNvSpPr/>
          <p:nvPr>
            <p:ph type="sldImg"/>
          </p:nvPr>
        </p:nvSpPr>
        <p:spPr>
          <a:prstGeom prst="rect">
            <a:avLst/>
          </a:prstGeom>
        </p:spPr>
        <p:txBody>
          <a:bodyPr/>
          <a:lstStyle/>
          <a:p>
            <a:pPr/>
          </a:p>
        </p:txBody>
      </p:sp>
      <p:sp>
        <p:nvSpPr>
          <p:cNvPr id="370" name="Shape 370"/>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In conclusion, microservices provide scalability but introduce complexity. Maintaining consistency and fault tolerance requires careful design, and decisions depend on system requirements.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4" name="Shape 374"/>
          <p:cNvSpPr/>
          <p:nvPr>
            <p:ph type="sldImg"/>
          </p:nvPr>
        </p:nvSpPr>
        <p:spPr>
          <a:prstGeom prst="rect">
            <a:avLst/>
          </a:prstGeom>
        </p:spPr>
        <p:txBody>
          <a:bodyPr/>
          <a:lstStyle/>
          <a:p>
            <a:pPr/>
          </a:p>
        </p:txBody>
      </p:sp>
      <p:sp>
        <p:nvSpPr>
          <p:cNvPr id="375" name="Shape 375"/>
          <p:cNvSpPr/>
          <p:nvPr>
            <p:ph type="body" sz="quarter" idx="1"/>
          </p:nvPr>
        </p:nvSpPr>
        <p:spPr>
          <a:prstGeom prst="rect">
            <a:avLst/>
          </a:prstGeom>
        </p:spPr>
        <p:txBody>
          <a:bodyPr/>
          <a:lstStyle>
            <a:lvl1pPr>
              <a:defRPr>
                <a:latin typeface="-webkit-standard"/>
                <a:ea typeface="-webkit-standard"/>
                <a:cs typeface="-webkit-standard"/>
                <a:sym typeface="-webkit-standard"/>
              </a:defRPr>
            </a:lvl1pPr>
          </a:lstStyle>
          <a:p>
            <a:pPr/>
            <a:r>
              <a:t>Future work can focus on developing standard evaluation frameworks, improving real-world validation, and using AI for fault prediction and self-healing systems.</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1.jpe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Slide">
    <p:spTree>
      <p:nvGrpSpPr>
        <p:cNvPr id="1" name=""/>
        <p:cNvGrpSpPr/>
        <p:nvPr/>
      </p:nvGrpSpPr>
      <p:grpSpPr>
        <a:xfrm>
          <a:off x="0" y="0"/>
          <a:ext cx="0" cy="0"/>
          <a:chOff x="0" y="0"/>
          <a:chExt cx="0" cy="0"/>
        </a:xfrm>
      </p:grpSpPr>
      <p:sp>
        <p:nvSpPr>
          <p:cNvPr id="26"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Slide">
    <p:spTree>
      <p:nvGrpSpPr>
        <p:cNvPr id="1" name=""/>
        <p:cNvGrpSpPr/>
        <p:nvPr/>
      </p:nvGrpSpPr>
      <p:grpSpPr>
        <a:xfrm>
          <a:off x="0" y="0"/>
          <a:ext cx="0" cy="0"/>
          <a:chOff x="0" y="0"/>
          <a:chExt cx="0" cy="0"/>
        </a:xfrm>
      </p:grpSpPr>
      <p:sp>
        <p:nvSpPr>
          <p:cNvPr id="33"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34"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35"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36"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40" name="Group 3"/>
          <p:cNvGrpSpPr/>
          <p:nvPr/>
        </p:nvGrpSpPr>
        <p:grpSpPr>
          <a:xfrm>
            <a:off x="6146639" y="0"/>
            <a:ext cx="2997001" cy="875880"/>
            <a:chOff x="0" y="0"/>
            <a:chExt cx="2997000" cy="875878"/>
          </a:xfrm>
        </p:grpSpPr>
        <p:sp>
          <p:nvSpPr>
            <p:cNvPr id="37"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38"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39"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41"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42"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46" name="Group 6"/>
          <p:cNvGrpSpPr/>
          <p:nvPr/>
        </p:nvGrpSpPr>
        <p:grpSpPr>
          <a:xfrm>
            <a:off x="6146639" y="0"/>
            <a:ext cx="2997001" cy="875880"/>
            <a:chOff x="0" y="0"/>
            <a:chExt cx="2997000" cy="875878"/>
          </a:xfrm>
        </p:grpSpPr>
        <p:sp>
          <p:nvSpPr>
            <p:cNvPr id="43"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44"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45"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47"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48"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49" name="Body Level One…"/>
          <p:cNvSpPr txBox="1"/>
          <p:nvPr>
            <p:ph type="body" idx="1"/>
          </p:nvPr>
        </p:nvSpPr>
        <p:spPr>
          <a:xfrm>
            <a:off x="457200" y="1604519"/>
            <a:ext cx="8229241" cy="3977282"/>
          </a:xfrm>
          <a:prstGeom prst="rect">
            <a:avLst/>
          </a:prstGeom>
        </p:spPr>
        <p:txBody>
          <a:bodyPr lIns="0" tIns="0" rIns="0" bIns="0" anchor="ct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50"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Content">
    <p:spTree>
      <p:nvGrpSpPr>
        <p:cNvPr id="1" name=""/>
        <p:cNvGrpSpPr/>
        <p:nvPr/>
      </p:nvGrpSpPr>
      <p:grpSpPr>
        <a:xfrm>
          <a:off x="0" y="0"/>
          <a:ext cx="0" cy="0"/>
          <a:chOff x="0" y="0"/>
          <a:chExt cx="0" cy="0"/>
        </a:xfrm>
      </p:grpSpPr>
      <p:sp>
        <p:nvSpPr>
          <p:cNvPr id="57"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58"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59"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60"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64" name="Group 3"/>
          <p:cNvGrpSpPr/>
          <p:nvPr/>
        </p:nvGrpSpPr>
        <p:grpSpPr>
          <a:xfrm>
            <a:off x="6146639" y="0"/>
            <a:ext cx="2997001" cy="875880"/>
            <a:chOff x="0" y="0"/>
            <a:chExt cx="2997000" cy="875878"/>
          </a:xfrm>
        </p:grpSpPr>
        <p:sp>
          <p:nvSpPr>
            <p:cNvPr id="61"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62"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63"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65"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66"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70" name="Group 6"/>
          <p:cNvGrpSpPr/>
          <p:nvPr/>
        </p:nvGrpSpPr>
        <p:grpSpPr>
          <a:xfrm>
            <a:off x="6146639" y="0"/>
            <a:ext cx="2997001" cy="875880"/>
            <a:chOff x="0" y="0"/>
            <a:chExt cx="2997000" cy="875878"/>
          </a:xfrm>
        </p:grpSpPr>
        <p:sp>
          <p:nvSpPr>
            <p:cNvPr id="67"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68"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69"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71"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72"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73" name="Body Level One…"/>
          <p:cNvSpPr txBox="1"/>
          <p:nvPr>
            <p:ph type="body" idx="1"/>
          </p:nvPr>
        </p:nvSpPr>
        <p:spPr>
          <a:xfrm>
            <a:off x="457200" y="1604519"/>
            <a:ext cx="8229241" cy="397728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7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2 Content">
    <p:spTree>
      <p:nvGrpSpPr>
        <p:cNvPr id="1" name=""/>
        <p:cNvGrpSpPr/>
        <p:nvPr/>
      </p:nvGrpSpPr>
      <p:grpSpPr>
        <a:xfrm>
          <a:off x="0" y="0"/>
          <a:ext cx="0" cy="0"/>
          <a:chOff x="0" y="0"/>
          <a:chExt cx="0" cy="0"/>
        </a:xfrm>
      </p:grpSpPr>
      <p:sp>
        <p:nvSpPr>
          <p:cNvPr id="81"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82"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83"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84"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88" name="Group 3"/>
          <p:cNvGrpSpPr/>
          <p:nvPr/>
        </p:nvGrpSpPr>
        <p:grpSpPr>
          <a:xfrm>
            <a:off x="6146639" y="0"/>
            <a:ext cx="2997001" cy="875880"/>
            <a:chOff x="0" y="0"/>
            <a:chExt cx="2997000" cy="875878"/>
          </a:xfrm>
        </p:grpSpPr>
        <p:sp>
          <p:nvSpPr>
            <p:cNvPr id="85"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86"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87"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89"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90"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94" name="Group 6"/>
          <p:cNvGrpSpPr/>
          <p:nvPr/>
        </p:nvGrpSpPr>
        <p:grpSpPr>
          <a:xfrm>
            <a:off x="6146639" y="0"/>
            <a:ext cx="2997001" cy="875880"/>
            <a:chOff x="0" y="0"/>
            <a:chExt cx="2997000" cy="875878"/>
          </a:xfrm>
        </p:grpSpPr>
        <p:sp>
          <p:nvSpPr>
            <p:cNvPr id="91"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92"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93"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95"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96"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97" name="Body Level One…"/>
          <p:cNvSpPr txBox="1"/>
          <p:nvPr>
            <p:ph type="body" sz="half" idx="1"/>
          </p:nvPr>
        </p:nvSpPr>
        <p:spPr>
          <a:xfrm>
            <a:off x="457200" y="1604519"/>
            <a:ext cx="4015800" cy="397728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98" name="PlaceHolder 3"/>
          <p:cNvSpPr/>
          <p:nvPr>
            <p:ph type="body" sz="half" idx="21"/>
          </p:nvPr>
        </p:nvSpPr>
        <p:spPr>
          <a:xfrm>
            <a:off x="4674239" y="1604519"/>
            <a:ext cx="4015800" cy="3977281"/>
          </a:xfrm>
          <a:prstGeom prst="rect">
            <a:avLst/>
          </a:prstGeom>
        </p:spPr>
        <p:txBody>
          <a:bodyPr lIns="0" tIns="0" rIns="0" bIns="0">
            <a:normAutofit fontScale="100000" lnSpcReduction="0"/>
          </a:bodyPr>
          <a:lstStyle/>
          <a:p>
            <a:pPr>
              <a:defRPr spc="-100"/>
            </a:pP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Only">
    <p:spTree>
      <p:nvGrpSpPr>
        <p:cNvPr id="1" name=""/>
        <p:cNvGrpSpPr/>
        <p:nvPr/>
      </p:nvGrpSpPr>
      <p:grpSpPr>
        <a:xfrm>
          <a:off x="0" y="0"/>
          <a:ext cx="0" cy="0"/>
          <a:chOff x="0" y="0"/>
          <a:chExt cx="0" cy="0"/>
        </a:xfrm>
      </p:grpSpPr>
      <p:sp>
        <p:nvSpPr>
          <p:cNvPr id="106"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107"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108"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109"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13" name="Group 3"/>
          <p:cNvGrpSpPr/>
          <p:nvPr/>
        </p:nvGrpSpPr>
        <p:grpSpPr>
          <a:xfrm>
            <a:off x="6146639" y="0"/>
            <a:ext cx="2997001" cy="875880"/>
            <a:chOff x="0" y="0"/>
            <a:chExt cx="2997000" cy="875878"/>
          </a:xfrm>
        </p:grpSpPr>
        <p:sp>
          <p:nvSpPr>
            <p:cNvPr id="110"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11"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12"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14"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115"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19" name="Group 6"/>
          <p:cNvGrpSpPr/>
          <p:nvPr/>
        </p:nvGrpSpPr>
        <p:grpSpPr>
          <a:xfrm>
            <a:off x="6146639" y="0"/>
            <a:ext cx="2997001" cy="875880"/>
            <a:chOff x="0" y="0"/>
            <a:chExt cx="2997000" cy="875878"/>
          </a:xfrm>
        </p:grpSpPr>
        <p:sp>
          <p:nvSpPr>
            <p:cNvPr id="116"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17"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18"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20"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121"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12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Centered Text">
    <p:spTree>
      <p:nvGrpSpPr>
        <p:cNvPr id="1" name=""/>
        <p:cNvGrpSpPr/>
        <p:nvPr/>
      </p:nvGrpSpPr>
      <p:grpSpPr>
        <a:xfrm>
          <a:off x="0" y="0"/>
          <a:ext cx="0" cy="0"/>
          <a:chOff x="0" y="0"/>
          <a:chExt cx="0" cy="0"/>
        </a:xfrm>
      </p:grpSpPr>
      <p:sp>
        <p:nvSpPr>
          <p:cNvPr id="129"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130"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131"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132"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36" name="Group 3"/>
          <p:cNvGrpSpPr/>
          <p:nvPr/>
        </p:nvGrpSpPr>
        <p:grpSpPr>
          <a:xfrm>
            <a:off x="6146639" y="0"/>
            <a:ext cx="2997001" cy="875880"/>
            <a:chOff x="0" y="0"/>
            <a:chExt cx="2997000" cy="875878"/>
          </a:xfrm>
        </p:grpSpPr>
        <p:sp>
          <p:nvSpPr>
            <p:cNvPr id="133"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34"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35"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37"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138"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42" name="Group 6"/>
          <p:cNvGrpSpPr/>
          <p:nvPr/>
        </p:nvGrpSpPr>
        <p:grpSpPr>
          <a:xfrm>
            <a:off x="6146639" y="0"/>
            <a:ext cx="2997001" cy="875880"/>
            <a:chOff x="0" y="0"/>
            <a:chExt cx="2997000" cy="875878"/>
          </a:xfrm>
        </p:grpSpPr>
        <p:sp>
          <p:nvSpPr>
            <p:cNvPr id="139"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40"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41"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43"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144" name="Body Level One…"/>
          <p:cNvSpPr txBox="1"/>
          <p:nvPr>
            <p:ph type="body" sz="half" idx="1"/>
          </p:nvPr>
        </p:nvSpPr>
        <p:spPr>
          <a:xfrm>
            <a:off x="0" y="0"/>
            <a:ext cx="5486040" cy="4238281"/>
          </a:xfrm>
          <a:prstGeom prst="rect">
            <a:avLst/>
          </a:prstGeom>
        </p:spPr>
        <p:txBody>
          <a:bodyPr lIns="0" tIns="0" rIns="0" bIns="0" anchor="ctr">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2 Content and Content">
    <p:spTree>
      <p:nvGrpSpPr>
        <p:cNvPr id="1" name=""/>
        <p:cNvGrpSpPr/>
        <p:nvPr/>
      </p:nvGrpSpPr>
      <p:grpSpPr>
        <a:xfrm>
          <a:off x="0" y="0"/>
          <a:ext cx="0" cy="0"/>
          <a:chOff x="0" y="0"/>
          <a:chExt cx="0" cy="0"/>
        </a:xfrm>
      </p:grpSpPr>
      <p:sp>
        <p:nvSpPr>
          <p:cNvPr id="152"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153"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154"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155"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59" name="Group 3"/>
          <p:cNvGrpSpPr/>
          <p:nvPr/>
        </p:nvGrpSpPr>
        <p:grpSpPr>
          <a:xfrm>
            <a:off x="6146639" y="0"/>
            <a:ext cx="2997001" cy="875880"/>
            <a:chOff x="0" y="0"/>
            <a:chExt cx="2997000" cy="875878"/>
          </a:xfrm>
        </p:grpSpPr>
        <p:sp>
          <p:nvSpPr>
            <p:cNvPr id="15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57"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5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60"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161"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65" name="Group 6"/>
          <p:cNvGrpSpPr/>
          <p:nvPr/>
        </p:nvGrpSpPr>
        <p:grpSpPr>
          <a:xfrm>
            <a:off x="6146639" y="0"/>
            <a:ext cx="2997001" cy="875880"/>
            <a:chOff x="0" y="0"/>
            <a:chExt cx="2997000" cy="875878"/>
          </a:xfrm>
        </p:grpSpPr>
        <p:sp>
          <p:nvSpPr>
            <p:cNvPr id="16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63"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6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66"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167"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168" name="Body Level One…"/>
          <p:cNvSpPr txBox="1"/>
          <p:nvPr>
            <p:ph type="body" sz="quarter" idx="1"/>
          </p:nvPr>
        </p:nvSpPr>
        <p:spPr>
          <a:xfrm>
            <a:off x="457200" y="1604519"/>
            <a:ext cx="4015800" cy="189684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69" name="PlaceHolder 3"/>
          <p:cNvSpPr/>
          <p:nvPr/>
        </p:nvSpPr>
        <p:spPr>
          <a:xfrm>
            <a:off x="4674239" y="1604519"/>
            <a:ext cx="4015800" cy="3977281"/>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170" name="PlaceHolder 4"/>
          <p:cNvSpPr/>
          <p:nvPr>
            <p:ph type="body" sz="quarter" idx="21"/>
          </p:nvPr>
        </p:nvSpPr>
        <p:spPr>
          <a:xfrm>
            <a:off x="457199" y="3682079"/>
            <a:ext cx="4015801" cy="1896841"/>
          </a:xfrm>
          <a:prstGeom prst="rect">
            <a:avLst/>
          </a:prstGeom>
        </p:spPr>
        <p:txBody>
          <a:bodyPr lIns="0" tIns="0" rIns="0" bIns="0">
            <a:normAutofit fontScale="100000" lnSpcReduction="0"/>
          </a:bodyPr>
          <a:lstStyle/>
          <a:p>
            <a:pPr>
              <a:defRPr spc="-100"/>
            </a:pPr>
          </a:p>
        </p:txBody>
      </p:sp>
      <p:sp>
        <p:nvSpPr>
          <p:cNvPr id="17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Content and 2 Content">
    <p:spTree>
      <p:nvGrpSpPr>
        <p:cNvPr id="1" name=""/>
        <p:cNvGrpSpPr/>
        <p:nvPr/>
      </p:nvGrpSpPr>
      <p:grpSpPr>
        <a:xfrm>
          <a:off x="0" y="0"/>
          <a:ext cx="0" cy="0"/>
          <a:chOff x="0" y="0"/>
          <a:chExt cx="0" cy="0"/>
        </a:xfrm>
      </p:grpSpPr>
      <p:sp>
        <p:nvSpPr>
          <p:cNvPr id="178"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179"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180"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181"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85" name="Group 3"/>
          <p:cNvGrpSpPr/>
          <p:nvPr/>
        </p:nvGrpSpPr>
        <p:grpSpPr>
          <a:xfrm>
            <a:off x="6146639" y="0"/>
            <a:ext cx="2997001" cy="875880"/>
            <a:chOff x="0" y="0"/>
            <a:chExt cx="2997000" cy="875878"/>
          </a:xfrm>
        </p:grpSpPr>
        <p:sp>
          <p:nvSpPr>
            <p:cNvPr id="182"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83"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84"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86"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187"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91" name="Group 6"/>
          <p:cNvGrpSpPr/>
          <p:nvPr/>
        </p:nvGrpSpPr>
        <p:grpSpPr>
          <a:xfrm>
            <a:off x="6146639" y="0"/>
            <a:ext cx="2997001" cy="875880"/>
            <a:chOff x="0" y="0"/>
            <a:chExt cx="2997000" cy="875878"/>
          </a:xfrm>
        </p:grpSpPr>
        <p:sp>
          <p:nvSpPr>
            <p:cNvPr id="188"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89"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90"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92"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193"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194" name="Body Level One…"/>
          <p:cNvSpPr txBox="1"/>
          <p:nvPr>
            <p:ph type="body" sz="half" idx="1"/>
          </p:nvPr>
        </p:nvSpPr>
        <p:spPr>
          <a:xfrm>
            <a:off x="457200" y="1604519"/>
            <a:ext cx="4015800" cy="397728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195" name="PlaceHolder 3"/>
          <p:cNvSpPr/>
          <p:nvPr/>
        </p:nvSpPr>
        <p:spPr>
          <a:xfrm>
            <a:off x="4674239" y="1604519"/>
            <a:ext cx="4015800" cy="1896842"/>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196" name="PlaceHolder 4"/>
          <p:cNvSpPr/>
          <p:nvPr>
            <p:ph type="body" sz="quarter" idx="21"/>
          </p:nvPr>
        </p:nvSpPr>
        <p:spPr>
          <a:xfrm>
            <a:off x="4674239" y="3682079"/>
            <a:ext cx="4015800" cy="1896841"/>
          </a:xfrm>
          <a:prstGeom prst="rect">
            <a:avLst/>
          </a:prstGeom>
        </p:spPr>
        <p:txBody>
          <a:bodyPr lIns="0" tIns="0" rIns="0" bIns="0">
            <a:normAutofit fontScale="100000" lnSpcReduction="0"/>
          </a:bodyPr>
          <a:lstStyle/>
          <a:p>
            <a:pPr>
              <a:defRPr spc="-100"/>
            </a:pPr>
          </a:p>
        </p:txBody>
      </p:sp>
      <p:sp>
        <p:nvSpPr>
          <p:cNvPr id="19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2 Content over Content">
    <p:spTree>
      <p:nvGrpSpPr>
        <p:cNvPr id="1" name=""/>
        <p:cNvGrpSpPr/>
        <p:nvPr/>
      </p:nvGrpSpPr>
      <p:grpSpPr>
        <a:xfrm>
          <a:off x="0" y="0"/>
          <a:ext cx="0" cy="0"/>
          <a:chOff x="0" y="0"/>
          <a:chExt cx="0" cy="0"/>
        </a:xfrm>
      </p:grpSpPr>
      <p:sp>
        <p:nvSpPr>
          <p:cNvPr id="204"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205"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206"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207"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11" name="Group 3"/>
          <p:cNvGrpSpPr/>
          <p:nvPr/>
        </p:nvGrpSpPr>
        <p:grpSpPr>
          <a:xfrm>
            <a:off x="6146639" y="0"/>
            <a:ext cx="2997001" cy="875880"/>
            <a:chOff x="0" y="0"/>
            <a:chExt cx="2997000" cy="875878"/>
          </a:xfrm>
        </p:grpSpPr>
        <p:sp>
          <p:nvSpPr>
            <p:cNvPr id="208"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09"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10"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12"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213"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17" name="Group 6"/>
          <p:cNvGrpSpPr/>
          <p:nvPr/>
        </p:nvGrpSpPr>
        <p:grpSpPr>
          <a:xfrm>
            <a:off x="6146639" y="0"/>
            <a:ext cx="2997001" cy="875880"/>
            <a:chOff x="0" y="0"/>
            <a:chExt cx="2997000" cy="875878"/>
          </a:xfrm>
        </p:grpSpPr>
        <p:sp>
          <p:nvSpPr>
            <p:cNvPr id="214"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15"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16"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18"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219"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220" name="Body Level One…"/>
          <p:cNvSpPr txBox="1"/>
          <p:nvPr>
            <p:ph type="body" sz="quarter" idx="1"/>
          </p:nvPr>
        </p:nvSpPr>
        <p:spPr>
          <a:xfrm>
            <a:off x="457200" y="1604519"/>
            <a:ext cx="4015800" cy="189684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21" name="PlaceHolder 3"/>
          <p:cNvSpPr/>
          <p:nvPr/>
        </p:nvSpPr>
        <p:spPr>
          <a:xfrm>
            <a:off x="4674239" y="1604519"/>
            <a:ext cx="4015800" cy="1896842"/>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222" name="PlaceHolder 4"/>
          <p:cNvSpPr/>
          <p:nvPr>
            <p:ph type="body" sz="half" idx="21"/>
          </p:nvPr>
        </p:nvSpPr>
        <p:spPr>
          <a:xfrm>
            <a:off x="457199" y="3682079"/>
            <a:ext cx="8229242" cy="1896841"/>
          </a:xfrm>
          <a:prstGeom prst="rect">
            <a:avLst/>
          </a:prstGeom>
        </p:spPr>
        <p:txBody>
          <a:bodyPr lIns="0" tIns="0" rIns="0" bIns="0">
            <a:normAutofit fontScale="100000" lnSpcReduction="0"/>
          </a:bodyPr>
          <a:lstStyle/>
          <a:p>
            <a:pPr>
              <a:defRPr spc="-100"/>
            </a:pPr>
          </a:p>
        </p:txBody>
      </p:sp>
      <p:sp>
        <p:nvSpPr>
          <p:cNvPr id="22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Content over Content">
    <p:spTree>
      <p:nvGrpSpPr>
        <p:cNvPr id="1" name=""/>
        <p:cNvGrpSpPr/>
        <p:nvPr/>
      </p:nvGrpSpPr>
      <p:grpSpPr>
        <a:xfrm>
          <a:off x="0" y="0"/>
          <a:ext cx="0" cy="0"/>
          <a:chOff x="0" y="0"/>
          <a:chExt cx="0" cy="0"/>
        </a:xfrm>
      </p:grpSpPr>
      <p:sp>
        <p:nvSpPr>
          <p:cNvPr id="230"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231"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232"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233"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37" name="Group 3"/>
          <p:cNvGrpSpPr/>
          <p:nvPr/>
        </p:nvGrpSpPr>
        <p:grpSpPr>
          <a:xfrm>
            <a:off x="6146639" y="0"/>
            <a:ext cx="2997001" cy="875880"/>
            <a:chOff x="0" y="0"/>
            <a:chExt cx="2997000" cy="875878"/>
          </a:xfrm>
        </p:grpSpPr>
        <p:sp>
          <p:nvSpPr>
            <p:cNvPr id="234"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35"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36"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38"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239"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43" name="Group 6"/>
          <p:cNvGrpSpPr/>
          <p:nvPr/>
        </p:nvGrpSpPr>
        <p:grpSpPr>
          <a:xfrm>
            <a:off x="6146639" y="0"/>
            <a:ext cx="2997001" cy="875880"/>
            <a:chOff x="0" y="0"/>
            <a:chExt cx="2997000" cy="875878"/>
          </a:xfrm>
        </p:grpSpPr>
        <p:sp>
          <p:nvSpPr>
            <p:cNvPr id="240"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41"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42"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44"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245"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246" name="Body Level One…"/>
          <p:cNvSpPr txBox="1"/>
          <p:nvPr>
            <p:ph type="body" sz="half" idx="1"/>
          </p:nvPr>
        </p:nvSpPr>
        <p:spPr>
          <a:xfrm>
            <a:off x="457200" y="1604519"/>
            <a:ext cx="8229241" cy="189684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47" name="PlaceHolder 3"/>
          <p:cNvSpPr/>
          <p:nvPr>
            <p:ph type="body" sz="half" idx="21"/>
          </p:nvPr>
        </p:nvSpPr>
        <p:spPr>
          <a:xfrm>
            <a:off x="457199" y="3682079"/>
            <a:ext cx="8229242" cy="1896841"/>
          </a:xfrm>
          <a:prstGeom prst="rect">
            <a:avLst/>
          </a:prstGeom>
        </p:spPr>
        <p:txBody>
          <a:bodyPr lIns="0" tIns="0" rIns="0" bIns="0">
            <a:normAutofit fontScale="100000" lnSpcReduction="0"/>
          </a:bodyPr>
          <a:lstStyle/>
          <a:p>
            <a:pPr>
              <a:defRPr spc="-100"/>
            </a:pPr>
          </a:p>
        </p:txBody>
      </p:sp>
      <p:sp>
        <p:nvSpPr>
          <p:cNvPr id="24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4 Content">
    <p:spTree>
      <p:nvGrpSpPr>
        <p:cNvPr id="1" name=""/>
        <p:cNvGrpSpPr/>
        <p:nvPr/>
      </p:nvGrpSpPr>
      <p:grpSpPr>
        <a:xfrm>
          <a:off x="0" y="0"/>
          <a:ext cx="0" cy="0"/>
          <a:chOff x="0" y="0"/>
          <a:chExt cx="0" cy="0"/>
        </a:xfrm>
      </p:grpSpPr>
      <p:sp>
        <p:nvSpPr>
          <p:cNvPr id="255"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256"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257"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258"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62" name="Group 3"/>
          <p:cNvGrpSpPr/>
          <p:nvPr/>
        </p:nvGrpSpPr>
        <p:grpSpPr>
          <a:xfrm>
            <a:off x="6146639" y="0"/>
            <a:ext cx="2997001" cy="875880"/>
            <a:chOff x="0" y="0"/>
            <a:chExt cx="2997000" cy="875878"/>
          </a:xfrm>
        </p:grpSpPr>
        <p:sp>
          <p:nvSpPr>
            <p:cNvPr id="259"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60"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61"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63"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264"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68" name="Group 6"/>
          <p:cNvGrpSpPr/>
          <p:nvPr/>
        </p:nvGrpSpPr>
        <p:grpSpPr>
          <a:xfrm>
            <a:off x="6146639" y="0"/>
            <a:ext cx="2997001" cy="875880"/>
            <a:chOff x="0" y="0"/>
            <a:chExt cx="2997000" cy="875878"/>
          </a:xfrm>
        </p:grpSpPr>
        <p:sp>
          <p:nvSpPr>
            <p:cNvPr id="265"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66"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67"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69"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270"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271" name="Body Level One…"/>
          <p:cNvSpPr txBox="1"/>
          <p:nvPr>
            <p:ph type="body" sz="quarter" idx="1"/>
          </p:nvPr>
        </p:nvSpPr>
        <p:spPr>
          <a:xfrm>
            <a:off x="457200" y="1604519"/>
            <a:ext cx="4015800" cy="189684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72" name="PlaceHolder 3"/>
          <p:cNvSpPr/>
          <p:nvPr/>
        </p:nvSpPr>
        <p:spPr>
          <a:xfrm>
            <a:off x="4674239" y="1604519"/>
            <a:ext cx="4015800" cy="1896842"/>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273" name="PlaceHolder 4"/>
          <p:cNvSpPr/>
          <p:nvPr/>
        </p:nvSpPr>
        <p:spPr>
          <a:xfrm>
            <a:off x="457199" y="3682079"/>
            <a:ext cx="4015801" cy="1896841"/>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274" name="PlaceHolder 5"/>
          <p:cNvSpPr/>
          <p:nvPr>
            <p:ph type="body" sz="quarter" idx="21"/>
          </p:nvPr>
        </p:nvSpPr>
        <p:spPr>
          <a:xfrm>
            <a:off x="4674239" y="3682079"/>
            <a:ext cx="4015800" cy="1896841"/>
          </a:xfrm>
          <a:prstGeom prst="rect">
            <a:avLst/>
          </a:prstGeom>
        </p:spPr>
        <p:txBody>
          <a:bodyPr lIns="0" tIns="0" rIns="0" bIns="0">
            <a:normAutofit fontScale="100000" lnSpcReduction="0"/>
          </a:bodyPr>
          <a:lstStyle/>
          <a:p>
            <a:pPr>
              <a:defRPr spc="-100"/>
            </a:pPr>
          </a:p>
        </p:txBody>
      </p:sp>
      <p:sp>
        <p:nvSpPr>
          <p:cNvPr id="27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0" showMasterPhAnim="1">
  <p:cSld name="Title, 6 Content">
    <p:spTree>
      <p:nvGrpSpPr>
        <p:cNvPr id="1" name=""/>
        <p:cNvGrpSpPr/>
        <p:nvPr/>
      </p:nvGrpSpPr>
      <p:grpSpPr>
        <a:xfrm>
          <a:off x="0" y="0"/>
          <a:ext cx="0" cy="0"/>
          <a:chOff x="0" y="0"/>
          <a:chExt cx="0" cy="0"/>
        </a:xfrm>
      </p:grpSpPr>
      <p:sp>
        <p:nvSpPr>
          <p:cNvPr id="282"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283"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284"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285"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89" name="Group 3"/>
          <p:cNvGrpSpPr/>
          <p:nvPr/>
        </p:nvGrpSpPr>
        <p:grpSpPr>
          <a:xfrm>
            <a:off x="6146639" y="0"/>
            <a:ext cx="2997001" cy="875880"/>
            <a:chOff x="0" y="0"/>
            <a:chExt cx="2997000" cy="875878"/>
          </a:xfrm>
        </p:grpSpPr>
        <p:sp>
          <p:nvSpPr>
            <p:cNvPr id="28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87"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8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90"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291"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295" name="Group 6"/>
          <p:cNvGrpSpPr/>
          <p:nvPr/>
        </p:nvGrpSpPr>
        <p:grpSpPr>
          <a:xfrm>
            <a:off x="6146639" y="0"/>
            <a:ext cx="2997001" cy="875880"/>
            <a:chOff x="0" y="0"/>
            <a:chExt cx="2997000" cy="875878"/>
          </a:xfrm>
        </p:grpSpPr>
        <p:sp>
          <p:nvSpPr>
            <p:cNvPr id="29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293"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29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296"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297" name="Title Text"/>
          <p:cNvSpPr txBox="1"/>
          <p:nvPr>
            <p:ph type="title"/>
          </p:nvPr>
        </p:nvSpPr>
        <p:spPr>
          <a:xfrm>
            <a:off x="0" y="0"/>
            <a:ext cx="5486040" cy="914041"/>
          </a:xfrm>
          <a:prstGeom prst="rect">
            <a:avLst/>
          </a:prstGeom>
        </p:spPr>
        <p:txBody>
          <a:bodyPr lIns="0" tIns="0" rIns="0" bIns="0">
            <a:normAutofit fontScale="100000" lnSpcReduction="0"/>
          </a:bodyPr>
          <a:lstStyle/>
          <a:p>
            <a:pPr/>
            <a:r>
              <a:t>Title Text</a:t>
            </a:r>
          </a:p>
        </p:txBody>
      </p:sp>
      <p:sp>
        <p:nvSpPr>
          <p:cNvPr id="298" name="Body Level One…"/>
          <p:cNvSpPr txBox="1"/>
          <p:nvPr>
            <p:ph type="body" sz="quarter" idx="1"/>
          </p:nvPr>
        </p:nvSpPr>
        <p:spPr>
          <a:xfrm>
            <a:off x="457200" y="1604519"/>
            <a:ext cx="2649601" cy="1896842"/>
          </a:xfrm>
          <a:prstGeom prst="rect">
            <a:avLst/>
          </a:prstGeom>
        </p:spPr>
        <p:txBody>
          <a:bodyPr lIns="0" tIns="0" rIns="0" bIns="0">
            <a:normAutofit fontScale="100000" lnSpcReduction="0"/>
          </a:bodyPr>
          <a:lstStyle/>
          <a:p>
            <a:pPr/>
            <a:r>
              <a:t>Body Level One</a:t>
            </a:r>
          </a:p>
          <a:p>
            <a:pPr lvl="1"/>
            <a:r>
              <a:t>Body Level Two</a:t>
            </a:r>
          </a:p>
          <a:p>
            <a:pPr lvl="2"/>
            <a:r>
              <a:t>Body Level Three</a:t>
            </a:r>
          </a:p>
          <a:p>
            <a:pPr lvl="3"/>
            <a:r>
              <a:t>Body Level Four</a:t>
            </a:r>
          </a:p>
          <a:p>
            <a:pPr lvl="4"/>
            <a:r>
              <a:t>Body Level Five</a:t>
            </a:r>
          </a:p>
        </p:txBody>
      </p:sp>
      <p:sp>
        <p:nvSpPr>
          <p:cNvPr id="299" name="PlaceHolder 3"/>
          <p:cNvSpPr/>
          <p:nvPr/>
        </p:nvSpPr>
        <p:spPr>
          <a:xfrm>
            <a:off x="3239640" y="1604519"/>
            <a:ext cx="2649601" cy="1896842"/>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300" name="PlaceHolder 4"/>
          <p:cNvSpPr/>
          <p:nvPr/>
        </p:nvSpPr>
        <p:spPr>
          <a:xfrm>
            <a:off x="6022080" y="1604519"/>
            <a:ext cx="2649601" cy="1896842"/>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301" name="PlaceHolder 5"/>
          <p:cNvSpPr/>
          <p:nvPr/>
        </p:nvSpPr>
        <p:spPr>
          <a:xfrm>
            <a:off x="457199" y="3682079"/>
            <a:ext cx="2649602" cy="1896841"/>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302" name="PlaceHolder 6"/>
          <p:cNvSpPr/>
          <p:nvPr/>
        </p:nvSpPr>
        <p:spPr>
          <a:xfrm>
            <a:off x="3239640" y="3682079"/>
            <a:ext cx="2649601" cy="1896841"/>
          </a:xfrm>
          <a:prstGeom prst="rect">
            <a:avLst/>
          </a:prstGeom>
          <a:ln w="12700">
            <a:miter lim="400000"/>
          </a:ln>
        </p:spPr>
        <p:txBody>
          <a:bodyPr lIns="0" tIns="0" rIns="0" bIns="0">
            <a:normAutofit fontScale="100000" lnSpcReduction="0"/>
          </a:bodyPr>
          <a:lstStyle/>
          <a:p>
            <a:pPr marL="343080" indent="-342719">
              <a:spcBef>
                <a:spcPts val="600"/>
              </a:spcBef>
              <a:buClr>
                <a:srgbClr val="000000"/>
              </a:buClr>
              <a:buSzPct val="100000"/>
              <a:buFont typeface="Arial"/>
              <a:buChar char="•"/>
              <a:defRPr spc="-100" sz="3200">
                <a:latin typeface="+mn-lt"/>
                <a:ea typeface="+mn-ea"/>
                <a:cs typeface="+mn-cs"/>
                <a:sym typeface="Calibri"/>
              </a:defRPr>
            </a:pPr>
          </a:p>
        </p:txBody>
      </p:sp>
      <p:sp>
        <p:nvSpPr>
          <p:cNvPr id="303" name="PlaceHolder 7"/>
          <p:cNvSpPr/>
          <p:nvPr>
            <p:ph type="body" sz="quarter" idx="21"/>
          </p:nvPr>
        </p:nvSpPr>
        <p:spPr>
          <a:xfrm>
            <a:off x="6022080" y="3682079"/>
            <a:ext cx="2649601" cy="1896841"/>
          </a:xfrm>
          <a:prstGeom prst="rect">
            <a:avLst/>
          </a:prstGeom>
        </p:spPr>
        <p:txBody>
          <a:bodyPr lIns="0" tIns="0" rIns="0" bIns="0">
            <a:normAutofit fontScale="100000" lnSpcReduction="0"/>
          </a:bodyPr>
          <a:lstStyle/>
          <a:p>
            <a:pPr>
              <a:defRPr spc="-100"/>
            </a:pPr>
          </a:p>
        </p:txBody>
      </p:sp>
      <p:sp>
        <p:nvSpPr>
          <p:cNvPr id="30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image" Target="../media/image1.png"/><Relationship Id="rId3" Type="http://schemas.openxmlformats.org/officeDocument/2006/relationships/image" Target="../media/image1.jpeg"/><Relationship Id="rId4" Type="http://schemas.openxmlformats.org/officeDocument/2006/relationships/slideLayout" Target="../slideLayouts/slideLayout1.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 Id="rId9" Type="http://schemas.openxmlformats.org/officeDocument/2006/relationships/slideLayout" Target="../slideLayouts/slideLayout6.xml"/><Relationship Id="rId10" Type="http://schemas.openxmlformats.org/officeDocument/2006/relationships/slideLayout" Target="../slideLayouts/slideLayout7.xml"/><Relationship Id="rId11" Type="http://schemas.openxmlformats.org/officeDocument/2006/relationships/slideLayout" Target="../slideLayouts/slideLayout8.xml"/><Relationship Id="rId12" Type="http://schemas.openxmlformats.org/officeDocument/2006/relationships/slideLayout" Target="../slideLayouts/slideLayout9.xml"/><Relationship Id="rId13" Type="http://schemas.openxmlformats.org/officeDocument/2006/relationships/slideLayout" Target="../slideLayouts/slideLayout10.xml"/><Relationship Id="rId14" Type="http://schemas.openxmlformats.org/officeDocument/2006/relationships/slideLayout" Target="../slideLayouts/slideLayout11.xml"/><Relationship Id="rId15"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CustomShape 1"/>
          <p:cNvSpPr/>
          <p:nvPr/>
        </p:nvSpPr>
        <p:spPr>
          <a:xfrm>
            <a:off x="-1" y="0"/>
            <a:ext cx="9143642" cy="837720"/>
          </a:xfrm>
          <a:prstGeom prst="rect">
            <a:avLst/>
          </a:prstGeom>
          <a:solidFill>
            <a:srgbClr val="FF3300"/>
          </a:solidFill>
          <a:ln w="12700">
            <a:miter lim="400000"/>
          </a:ln>
        </p:spPr>
        <p:txBody>
          <a:bodyPr lIns="45719" rIns="45719"/>
          <a:lstStyle/>
          <a:p>
            <a:pPr/>
          </a:p>
        </p:txBody>
      </p:sp>
      <p:sp>
        <p:nvSpPr>
          <p:cNvPr id="3" name="CustomShape 2"/>
          <p:cNvSpPr/>
          <p:nvPr/>
        </p:nvSpPr>
        <p:spPr>
          <a:xfrm flipV="1">
            <a:off x="-1" y="6704640"/>
            <a:ext cx="9143642" cy="197641"/>
          </a:xfrm>
          <a:prstGeom prst="rect">
            <a:avLst/>
          </a:prstGeom>
          <a:solidFill>
            <a:srgbClr val="FF0000"/>
          </a:solidFill>
          <a:ln w="12700">
            <a:miter lim="400000"/>
          </a:ln>
        </p:spPr>
        <p:txBody>
          <a:bodyPr lIns="45719" rIns="45719"/>
          <a:lstStyle/>
          <a:p>
            <a:pPr/>
          </a:p>
        </p:txBody>
      </p:sp>
      <p:pic>
        <p:nvPicPr>
          <p:cNvPr id="4"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pic>
        <p:nvPicPr>
          <p:cNvPr id="5"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9" name="Group 3"/>
          <p:cNvGrpSpPr/>
          <p:nvPr/>
        </p:nvGrpSpPr>
        <p:grpSpPr>
          <a:xfrm>
            <a:off x="6146639" y="0"/>
            <a:ext cx="2997001" cy="875880"/>
            <a:chOff x="0" y="0"/>
            <a:chExt cx="2997000" cy="875878"/>
          </a:xfrm>
        </p:grpSpPr>
        <p:sp>
          <p:nvSpPr>
            <p:cNvPr id="6" name="CustomShape 4"/>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7"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8" name="CustomShape 5"/>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0"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pic>
        <p:nvPicPr>
          <p:cNvPr id="11" name="Picture 10" descr="Picture 10"/>
          <p:cNvPicPr>
            <a:picLocks noChangeAspect="1"/>
          </p:cNvPicPr>
          <p:nvPr/>
        </p:nvPicPr>
        <p:blipFill>
          <a:blip r:embed="rId2">
            <a:extLst/>
          </a:blip>
          <a:srcRect l="0" t="0" r="0" b="10718"/>
          <a:stretch>
            <a:fillRect/>
          </a:stretch>
        </p:blipFill>
        <p:spPr>
          <a:xfrm>
            <a:off x="6553079" y="228600"/>
            <a:ext cx="2057041" cy="634681"/>
          </a:xfrm>
          <a:prstGeom prst="rect">
            <a:avLst/>
          </a:prstGeom>
          <a:ln w="12700">
            <a:miter lim="400000"/>
          </a:ln>
        </p:spPr>
      </p:pic>
      <p:grpSp>
        <p:nvGrpSpPr>
          <p:cNvPr id="15" name="Group 6"/>
          <p:cNvGrpSpPr/>
          <p:nvPr/>
        </p:nvGrpSpPr>
        <p:grpSpPr>
          <a:xfrm>
            <a:off x="6146639" y="0"/>
            <a:ext cx="2997001" cy="875880"/>
            <a:chOff x="0" y="0"/>
            <a:chExt cx="2997000" cy="875878"/>
          </a:xfrm>
        </p:grpSpPr>
        <p:sp>
          <p:nvSpPr>
            <p:cNvPr id="12" name="CustomShape 7"/>
            <p:cNvSpPr/>
            <p:nvPr/>
          </p:nvSpPr>
          <p:spPr>
            <a:xfrm>
              <a:off x="-1" y="0"/>
              <a:ext cx="2997002" cy="837720"/>
            </a:xfrm>
            <a:prstGeom prst="rect">
              <a:avLst/>
            </a:prstGeom>
            <a:solidFill>
              <a:srgbClr val="FF3300"/>
            </a:solidFill>
            <a:ln w="12700" cap="flat">
              <a:noFill/>
              <a:miter lim="400000"/>
            </a:ln>
            <a:effectLst/>
          </p:spPr>
          <p:txBody>
            <a:bodyPr wrap="square" lIns="45719" tIns="45719" rIns="45719" bIns="45719" numCol="1" anchor="t">
              <a:noAutofit/>
            </a:bodyPr>
            <a:lstStyle/>
            <a:p>
              <a:pPr/>
            </a:p>
          </p:txBody>
        </p:sp>
        <p:pic>
          <p:nvPicPr>
            <p:cNvPr id="13" name="Picture 9" descr="Picture 9"/>
            <p:cNvPicPr>
              <a:picLocks noChangeAspect="1"/>
            </p:cNvPicPr>
            <p:nvPr/>
          </p:nvPicPr>
          <p:blipFill>
            <a:blip r:embed="rId2">
              <a:extLst/>
            </a:blip>
            <a:srcRect l="0" t="0" r="0" b="10718"/>
            <a:stretch>
              <a:fillRect/>
            </a:stretch>
          </p:blipFill>
          <p:spPr>
            <a:xfrm>
              <a:off x="406440" y="228599"/>
              <a:ext cx="2057040" cy="634681"/>
            </a:xfrm>
            <a:prstGeom prst="rect">
              <a:avLst/>
            </a:prstGeom>
            <a:ln w="12700" cap="flat">
              <a:noFill/>
              <a:miter lim="400000"/>
            </a:ln>
            <a:effectLst/>
          </p:spPr>
        </p:pic>
        <p:sp>
          <p:nvSpPr>
            <p:cNvPr id="14" name="CustomShape 8"/>
            <p:cNvSpPr/>
            <p:nvPr/>
          </p:nvSpPr>
          <p:spPr>
            <a:xfrm>
              <a:off x="381240" y="190439"/>
              <a:ext cx="2076121" cy="685441"/>
            </a:xfrm>
            <a:prstGeom prst="rect">
              <a:avLst/>
            </a:prstGeom>
            <a:solidFill>
              <a:srgbClr val="FFFFFF"/>
            </a:solidFill>
            <a:ln w="12700" cap="flat">
              <a:noFill/>
              <a:miter lim="400000"/>
            </a:ln>
            <a:effectLst/>
          </p:spPr>
          <p:txBody>
            <a:bodyPr wrap="square" lIns="45719" tIns="45719" rIns="45719" bIns="45719" numCol="1" anchor="t">
              <a:noAutofit/>
            </a:bodyPr>
            <a:lstStyle/>
            <a:p>
              <a:pPr/>
            </a:p>
          </p:txBody>
        </p:sp>
      </p:grpSp>
      <p:pic>
        <p:nvPicPr>
          <p:cNvPr id="16" name="Picture 15" descr="Picture 15"/>
          <p:cNvPicPr>
            <a:picLocks noChangeAspect="1"/>
          </p:cNvPicPr>
          <p:nvPr/>
        </p:nvPicPr>
        <p:blipFill>
          <a:blip r:embed="rId3">
            <a:extLst/>
          </a:blip>
          <a:stretch>
            <a:fillRect/>
          </a:stretch>
        </p:blipFill>
        <p:spPr>
          <a:xfrm>
            <a:off x="6553079" y="228600"/>
            <a:ext cx="1920601" cy="609120"/>
          </a:xfrm>
          <a:prstGeom prst="rect">
            <a:avLst/>
          </a:prstGeom>
          <a:ln w="12700">
            <a:miter lim="400000"/>
          </a:ln>
        </p:spPr>
      </p:pic>
      <p:sp>
        <p:nvSpPr>
          <p:cNvPr id="17" name="Title Text"/>
          <p:cNvSpPr txBox="1"/>
          <p:nvPr>
            <p:ph type="title"/>
          </p:nvPr>
        </p:nvSpPr>
        <p:spPr>
          <a:xfrm>
            <a:off x="457200" y="92074"/>
            <a:ext cx="82296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18" name="Body Level One…"/>
          <p:cNvSpPr txBox="1"/>
          <p:nvPr>
            <p:ph type="body" idx="1"/>
          </p:nvPr>
        </p:nvSpPr>
        <p:spPr>
          <a:xfrm>
            <a:off x="457200" y="1600200"/>
            <a:ext cx="82296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19" name="Slide Number"/>
          <p:cNvSpPr txBox="1"/>
          <p:nvPr>
            <p:ph type="sldNum" sz="quarter" idx="2"/>
          </p:nvPr>
        </p:nvSpPr>
        <p:spPr>
          <a:xfrm>
            <a:off x="4419600" y="6172200"/>
            <a:ext cx="2133600" cy="368301"/>
          </a:xfrm>
          <a:prstGeom prst="rect">
            <a:avLst/>
          </a:prstGeom>
          <a:ln w="12700">
            <a:miter lim="400000"/>
          </a:ln>
        </p:spPr>
        <p:txBody>
          <a:bodyPr wrap="none" lIns="45719" rIns="45719" anchor="ctr">
            <a:spAutoFit/>
          </a:bodyPr>
          <a:lstStyle>
            <a:lvl1pPr algn="r">
              <a:defRPr spc="-1" sz="1200">
                <a:solidFill>
                  <a:srgbClr val="898989"/>
                </a:solidFill>
                <a:latin typeface="+mn-lt"/>
                <a:ea typeface="+mn-ea"/>
                <a:cs typeface="+mn-cs"/>
                <a:sym typeface="Calibri"/>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4"/>
    <p:sldLayoutId id="2147483650" r:id="rId5"/>
    <p:sldLayoutId id="2147483651" r:id="rId6"/>
    <p:sldLayoutId id="2147483652" r:id="rId7"/>
    <p:sldLayoutId id="2147483653" r:id="rId8"/>
    <p:sldLayoutId id="2147483654" r:id="rId9"/>
    <p:sldLayoutId id="2147483655" r:id="rId10"/>
    <p:sldLayoutId id="2147483656" r:id="rId11"/>
    <p:sldLayoutId id="2147483657" r:id="rId12"/>
    <p:sldLayoutId id="2147483658" r:id="rId13"/>
    <p:sldLayoutId id="2147483659" r:id="rId14"/>
    <p:sldLayoutId id="2147483660" r:id="rId15"/>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1pPr>
      <a:lvl2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2pPr>
      <a:lvl3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3pPr>
      <a:lvl4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4pPr>
      <a:lvl5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5pPr>
      <a:lvl6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6pPr>
      <a:lvl7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7pPr>
      <a:lvl8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8pPr>
      <a:lvl9pPr marL="0" marR="0" indent="0" algn="ctr" defTabSz="914400" rtl="0" latinLnBrk="0">
        <a:lnSpc>
          <a:spcPct val="100000"/>
        </a:lnSpc>
        <a:spcBef>
          <a:spcPts val="0"/>
        </a:spcBef>
        <a:spcAft>
          <a:spcPts val="0"/>
        </a:spcAft>
        <a:buClrTx/>
        <a:buSzTx/>
        <a:buFontTx/>
        <a:buNone/>
        <a:tabLst/>
        <a:defRPr b="0" baseline="0" cap="none" i="0" spc="-1" strike="noStrike" sz="3000" u="none">
          <a:solidFill>
            <a:srgbClr val="000000"/>
          </a:solidFill>
          <a:uFillTx/>
          <a:latin typeface="+mn-lt"/>
          <a:ea typeface="+mn-ea"/>
          <a:cs typeface="+mn-cs"/>
          <a:sym typeface="Calibri"/>
        </a:defRPr>
      </a:lvl9pPr>
    </p:titleStyle>
    <p:bodyStyle>
      <a:lvl1pPr marL="343080" marR="0" indent="-342719"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1pPr>
      <a:lvl2pPr marL="783822" marR="0" indent="-326262"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2pPr>
      <a:lvl3pPr marL="1219079" marR="0" indent="-304319"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3pPr>
      <a:lvl4pPr marL="1737143" marR="0" indent="-365183"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4pPr>
      <a:lvl5pPr marL="2194343" marR="0" indent="-365183"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5pPr>
      <a:lvl6pPr marL="2692400" marR="0" indent="-406400"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6pPr>
      <a:lvl7pPr marL="3149600" marR="0" indent="-406400"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7pPr>
      <a:lvl8pPr marL="3606800" marR="0" indent="-406400"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8pPr>
      <a:lvl9pPr marL="4064000" marR="0" indent="-406400" algn="l" defTabSz="914400" rtl="0" latinLnBrk="0">
        <a:lnSpc>
          <a:spcPct val="100000"/>
        </a:lnSpc>
        <a:spcBef>
          <a:spcPts val="600"/>
        </a:spcBef>
        <a:spcAft>
          <a:spcPts val="0"/>
        </a:spcAft>
        <a:buClr>
          <a:srgbClr val="000000"/>
        </a:buClr>
        <a:buSzPct val="100000"/>
        <a:buFont typeface="Arial"/>
        <a:buChar char="•"/>
        <a:tabLst/>
        <a:defRPr b="0" baseline="0" cap="none" i="0" spc="-1"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1" strike="noStrike" sz="1200" u="none">
          <a:solidFill>
            <a:schemeClr val="tx1"/>
          </a:solidFill>
          <a:uFillTx/>
          <a:latin typeface="+mn-lt"/>
          <a:ea typeface="+mn-ea"/>
          <a:cs typeface="+mn-cs"/>
          <a:sym typeface="Calibri"/>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1.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3" name="TextShape 1"/>
          <p:cNvSpPr txBox="1"/>
          <p:nvPr/>
        </p:nvSpPr>
        <p:spPr>
          <a:xfrm>
            <a:off x="748085" y="840630"/>
            <a:ext cx="7621325" cy="628115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gn="ctr">
              <a:spcBef>
                <a:spcPts val="400"/>
              </a:spcBef>
              <a:defRPr>
                <a:latin typeface="Times New Roman"/>
                <a:ea typeface="Times New Roman"/>
                <a:cs typeface="Times New Roman"/>
                <a:sym typeface="Times New Roman"/>
              </a:defRPr>
            </a:pPr>
            <a:r>
              <a:t>Project Presentation of COOP-2 (22CS421)</a:t>
            </a:r>
          </a:p>
          <a:p>
            <a:pPr algn="ctr">
              <a:spcBef>
                <a:spcPts val="400"/>
              </a:spcBef>
              <a:defRPr spc="-1" sz="2000">
                <a:latin typeface="Times New Roman"/>
                <a:ea typeface="Times New Roman"/>
                <a:cs typeface="Times New Roman"/>
                <a:sym typeface="Times New Roman"/>
              </a:defRPr>
            </a:pPr>
            <a:r>
              <a:t>On</a:t>
            </a:r>
          </a:p>
          <a:p>
            <a:pPr algn="ctr">
              <a:spcBef>
                <a:spcPts val="400"/>
              </a:spcBef>
              <a:defRPr b="1" spc="-1" sz="3200">
                <a:latin typeface="Times New Roman"/>
                <a:ea typeface="Times New Roman"/>
                <a:cs typeface="Times New Roman"/>
                <a:sym typeface="Times New Roman"/>
              </a:defRPr>
            </a:pPr>
            <a:r>
              <a:t>Challenges in Adopting Microservices Architecture: </a:t>
            </a:r>
            <a:r>
              <a:rPr spc="0"/>
              <a:t>A Systematic Review of Data Consistency and Fault Tolerance</a:t>
            </a:r>
          </a:p>
          <a:p>
            <a:pPr algn="ctr">
              <a:spcBef>
                <a:spcPts val="400"/>
              </a:spcBef>
              <a:defRPr spc="-1" sz="3200">
                <a:latin typeface="Times New Roman"/>
                <a:ea typeface="Times New Roman"/>
                <a:cs typeface="Times New Roman"/>
                <a:sym typeface="Times New Roman"/>
              </a:defRPr>
            </a:pPr>
            <a:br>
              <a:rPr b="1"/>
            </a:br>
            <a:r>
              <a:rPr sz="2000"/>
              <a:t>Devang Sethi</a:t>
            </a:r>
            <a:endParaRPr sz="2000"/>
          </a:p>
          <a:p>
            <a:pPr algn="ctr">
              <a:spcBef>
                <a:spcPts val="400"/>
              </a:spcBef>
              <a:defRPr spc="-1" sz="2000">
                <a:latin typeface="Times New Roman"/>
                <a:ea typeface="Times New Roman"/>
                <a:cs typeface="Times New Roman"/>
                <a:sym typeface="Times New Roman"/>
              </a:defRPr>
            </a:pPr>
            <a:r>
              <a:t>2210991489</a:t>
            </a:r>
          </a:p>
          <a:p>
            <a:pPr algn="ctr">
              <a:spcBef>
                <a:spcPts val="400"/>
              </a:spcBef>
              <a:defRPr spc="-1" sz="2000">
                <a:latin typeface="Times New Roman"/>
                <a:ea typeface="Times New Roman"/>
                <a:cs typeface="Times New Roman"/>
                <a:sym typeface="Times New Roman"/>
              </a:defRPr>
            </a:pPr>
          </a:p>
          <a:p>
            <a:pPr algn="ctr">
              <a:spcBef>
                <a:spcPts val="400"/>
              </a:spcBef>
              <a:defRPr spc="-1" sz="2000">
                <a:latin typeface="Times New Roman"/>
                <a:ea typeface="Times New Roman"/>
                <a:cs typeface="Times New Roman"/>
                <a:sym typeface="Times New Roman"/>
              </a:defRPr>
            </a:pPr>
            <a:r>
              <a:t>Supervised By</a:t>
            </a:r>
          </a:p>
          <a:p>
            <a:pPr algn="ctr">
              <a:spcBef>
                <a:spcPts val="400"/>
              </a:spcBef>
              <a:defRPr spc="-1" sz="2000">
                <a:latin typeface="Times New Roman"/>
                <a:ea typeface="Times New Roman"/>
                <a:cs typeface="Times New Roman"/>
                <a:sym typeface="Times New Roman"/>
              </a:defRPr>
            </a:pPr>
            <a:r>
              <a:t>Dr. Rajat Takkar</a:t>
            </a:r>
          </a:p>
          <a:p>
            <a:pPr algn="ctr">
              <a:spcBef>
                <a:spcPts val="400"/>
              </a:spcBef>
              <a:defRPr spc="-1" sz="2000">
                <a:latin typeface="Times New Roman"/>
                <a:ea typeface="Times New Roman"/>
                <a:cs typeface="Times New Roman"/>
                <a:sym typeface="Times New Roman"/>
              </a:defRPr>
            </a:pPr>
          </a:p>
          <a:p>
            <a:pPr algn="ctr">
              <a:spcBef>
                <a:spcPts val="400"/>
              </a:spcBef>
              <a:defRPr spc="-1" sz="2400">
                <a:latin typeface="Times New Roman"/>
                <a:ea typeface="Times New Roman"/>
                <a:cs typeface="Times New Roman"/>
                <a:sym typeface="Times New Roman"/>
              </a:defRPr>
            </a:pPr>
            <a:r>
              <a:t>Department of Computer Science and Engineering, </a:t>
            </a:r>
          </a:p>
          <a:p>
            <a:pPr algn="ctr">
              <a:spcBef>
                <a:spcPts val="400"/>
              </a:spcBef>
              <a:defRPr spc="-1" sz="2400">
                <a:latin typeface="Times New Roman"/>
                <a:ea typeface="Times New Roman"/>
                <a:cs typeface="Times New Roman"/>
                <a:sym typeface="Times New Roman"/>
              </a:defRPr>
            </a:pPr>
            <a:r>
              <a:t>Chitkara University, Punjab</a:t>
            </a:r>
          </a:p>
          <a:p>
            <a:pPr algn="ctr">
              <a:lnSpc>
                <a:spcPct val="150000"/>
              </a:lnSpc>
              <a:spcBef>
                <a:spcPts val="400"/>
              </a:spcBef>
              <a:defRPr spc="-1" sz="2000">
                <a:latin typeface="+mn-lt"/>
                <a:ea typeface="+mn-ea"/>
                <a:cs typeface="+mn-cs"/>
                <a:sym typeface="Calibri"/>
              </a:defRPr>
            </a:pP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5"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Objective</a:t>
            </a:r>
          </a:p>
        </p:txBody>
      </p:sp>
      <p:sp>
        <p:nvSpPr>
          <p:cNvPr id="316"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To analyse key challenges in maintaining data consistency in distributed microservices systems</a:t>
            </a:r>
          </a:p>
          <a:p>
            <a:pPr>
              <a:defRPr spc="-100" sz="2400">
                <a:latin typeface="Times New Roman"/>
                <a:ea typeface="Times New Roman"/>
                <a:cs typeface="Times New Roman"/>
                <a:sym typeface="Times New Roman"/>
              </a:defRPr>
            </a:pPr>
            <a:r>
              <a:t>To examine fault tolerance issues arising from service failures and network communication</a:t>
            </a:r>
          </a:p>
          <a:p>
            <a:pPr>
              <a:defRPr spc="-100" sz="2400">
                <a:latin typeface="Times New Roman"/>
                <a:ea typeface="Times New Roman"/>
                <a:cs typeface="Times New Roman"/>
                <a:sym typeface="Times New Roman"/>
              </a:defRPr>
            </a:pPr>
            <a:r>
              <a:t>To evaluate different architectural strategies such as Saga pattern and distributed transactions</a:t>
            </a:r>
          </a:p>
          <a:p>
            <a:pPr>
              <a:defRPr spc="-100" sz="2400">
                <a:latin typeface="Times New Roman"/>
                <a:ea typeface="Times New Roman"/>
                <a:cs typeface="Times New Roman"/>
                <a:sym typeface="Times New Roman"/>
              </a:defRPr>
            </a:pPr>
            <a:r>
              <a:t>To compare trade-offs between consistency, availability, and scalability</a:t>
            </a:r>
          </a:p>
          <a:p>
            <a:pPr>
              <a:defRPr spc="-100" sz="2400">
                <a:latin typeface="Times New Roman"/>
                <a:ea typeface="Times New Roman"/>
                <a:cs typeface="Times New Roman"/>
                <a:sym typeface="Times New Roman"/>
              </a:defRPr>
            </a:pPr>
            <a:r>
              <a:t>To identify research gaps and future directions in microservices architecture</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0"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Background</a:t>
            </a:r>
          </a:p>
        </p:txBody>
      </p:sp>
      <p:sp>
        <p:nvSpPr>
          <p:cNvPr id="321" name="Subtitle 3"/>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Microservices architecture is widely adopted for building scalable and cloud-native applications</a:t>
            </a:r>
          </a:p>
          <a:p>
            <a:pPr>
              <a:defRPr spc="-100" sz="2400">
                <a:latin typeface="Times New Roman"/>
                <a:ea typeface="Times New Roman"/>
                <a:cs typeface="Times New Roman"/>
                <a:sym typeface="Times New Roman"/>
              </a:defRPr>
            </a:pPr>
            <a:r>
              <a:t>Applications are decomposed into small, independently deployable services</a:t>
            </a:r>
          </a:p>
          <a:p>
            <a:pPr>
              <a:defRPr spc="-100" sz="2400">
                <a:latin typeface="Times New Roman"/>
                <a:ea typeface="Times New Roman"/>
                <a:cs typeface="Times New Roman"/>
                <a:sym typeface="Times New Roman"/>
              </a:defRPr>
            </a:pPr>
            <a:r>
              <a:t>Each service manages its own data and business logic</a:t>
            </a:r>
          </a:p>
          <a:p>
            <a:pPr>
              <a:defRPr spc="-100" sz="2400">
                <a:latin typeface="Times New Roman"/>
                <a:ea typeface="Times New Roman"/>
                <a:cs typeface="Times New Roman"/>
                <a:sym typeface="Times New Roman"/>
              </a:defRPr>
            </a:pPr>
            <a:r>
              <a:t>Improves flexibility, scalability, and faster development cycles</a:t>
            </a:r>
          </a:p>
          <a:p>
            <a:pPr>
              <a:defRPr spc="-100" sz="2400">
                <a:latin typeface="Times New Roman"/>
                <a:ea typeface="Times New Roman"/>
                <a:cs typeface="Times New Roman"/>
                <a:sym typeface="Times New Roman"/>
              </a:defRPr>
            </a:pPr>
            <a:r>
              <a:t>However, decentralization introduces challenges not present in monolithic systems</a:t>
            </a:r>
          </a:p>
          <a:p>
            <a:pPr>
              <a:defRPr spc="-100" sz="2400">
                <a:latin typeface="Times New Roman"/>
                <a:ea typeface="Times New Roman"/>
                <a:cs typeface="Times New Roman"/>
                <a:sym typeface="Times New Roman"/>
              </a:defRPr>
            </a:pPr>
            <a:r>
              <a:t>Particularly affects data consistency and system reliability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Problem Statement</a:t>
            </a:r>
          </a:p>
        </p:txBody>
      </p:sp>
      <p:sp>
        <p:nvSpPr>
          <p:cNvPr id="326" name="Subtitle 3"/>
          <p:cNvSpPr txBox="1"/>
          <p:nvPr>
            <p:ph type="body" idx="1"/>
          </p:nvPr>
        </p:nvSpPr>
        <p:spPr>
          <a:xfrm>
            <a:off x="457200" y="1604962"/>
            <a:ext cx="8229600" cy="3976688"/>
          </a:xfrm>
          <a:prstGeom prst="rect">
            <a:avLst/>
          </a:prstGeom>
        </p:spPr>
        <p:txBody>
          <a:bodyPr/>
          <a:lstStyle/>
          <a:p>
            <a:pPr marL="332787" indent="-332438" defTabSz="886968">
              <a:spcBef>
                <a:spcPts val="500"/>
              </a:spcBef>
              <a:defRPr spc="-97" sz="2328">
                <a:latin typeface="Times New Roman"/>
                <a:ea typeface="Times New Roman"/>
                <a:cs typeface="Times New Roman"/>
                <a:sym typeface="Times New Roman"/>
              </a:defRPr>
            </a:pPr>
            <a:r>
              <a:t>Maintaining data consistency across multiple independent services is difficult</a:t>
            </a:r>
          </a:p>
          <a:p>
            <a:pPr marL="332787" indent="-332438" defTabSz="886968">
              <a:spcBef>
                <a:spcPts val="500"/>
              </a:spcBef>
              <a:defRPr spc="-97" sz="2328">
                <a:latin typeface="Times New Roman"/>
                <a:ea typeface="Times New Roman"/>
                <a:cs typeface="Times New Roman"/>
                <a:sym typeface="Times New Roman"/>
              </a:defRPr>
            </a:pPr>
            <a:r>
              <a:t>Distributed systems lack a centralized database for coordination</a:t>
            </a:r>
          </a:p>
          <a:p>
            <a:pPr marL="332787" indent="-332438" defTabSz="886968">
              <a:spcBef>
                <a:spcPts val="500"/>
              </a:spcBef>
              <a:defRPr spc="-97" sz="2328">
                <a:latin typeface="Times New Roman"/>
                <a:ea typeface="Times New Roman"/>
                <a:cs typeface="Times New Roman"/>
                <a:sym typeface="Times New Roman"/>
              </a:defRPr>
            </a:pPr>
            <a:r>
              <a:t>Failures such as network issues, service crashes, and latency are inevitable</a:t>
            </a:r>
          </a:p>
          <a:p>
            <a:pPr marL="332787" indent="-332438" defTabSz="886968">
              <a:spcBef>
                <a:spcPts val="500"/>
              </a:spcBef>
              <a:defRPr spc="-97" sz="2328">
                <a:latin typeface="Times New Roman"/>
                <a:ea typeface="Times New Roman"/>
                <a:cs typeface="Times New Roman"/>
                <a:sym typeface="Times New Roman"/>
              </a:defRPr>
            </a:pPr>
            <a:r>
              <a:t>These failures can lead to cascading system-wide issues</a:t>
            </a:r>
          </a:p>
          <a:p>
            <a:pPr marL="332787" indent="-332438" defTabSz="886968">
              <a:spcBef>
                <a:spcPts val="500"/>
              </a:spcBef>
              <a:defRPr spc="-97" sz="2328">
                <a:latin typeface="Times New Roman"/>
                <a:ea typeface="Times New Roman"/>
                <a:cs typeface="Times New Roman"/>
                <a:sym typeface="Times New Roman"/>
              </a:defRPr>
            </a:pPr>
            <a:r>
              <a:t>Trade-offs exist between:</a:t>
            </a:r>
          </a:p>
          <a:p>
            <a:pPr lvl="1" marL="564080" indent="-194510" defTabSz="886968">
              <a:spcBef>
                <a:spcPts val="400"/>
              </a:spcBef>
              <a:buClrTx/>
              <a:buFontTx/>
              <a:buChar char="•"/>
              <a:defRPr spc="-97" sz="1940">
                <a:latin typeface="Times New Roman"/>
                <a:ea typeface="Times New Roman"/>
                <a:cs typeface="Times New Roman"/>
                <a:sym typeface="Times New Roman"/>
              </a:defRPr>
            </a:pPr>
            <a:r>
              <a:t>Strong consistency</a:t>
            </a:r>
            <a:endParaRPr spc="0" sz="2716"/>
          </a:p>
          <a:p>
            <a:pPr lvl="1" marL="564080" indent="-194510" defTabSz="886968">
              <a:spcBef>
                <a:spcPts val="400"/>
              </a:spcBef>
              <a:buClrTx/>
              <a:buFontTx/>
              <a:buChar char="•"/>
              <a:defRPr spc="-97" sz="1940">
                <a:latin typeface="Times New Roman"/>
                <a:ea typeface="Times New Roman"/>
                <a:cs typeface="Times New Roman"/>
                <a:sym typeface="Times New Roman"/>
              </a:defRPr>
            </a:pPr>
            <a:r>
              <a:t>High availability</a:t>
            </a:r>
            <a:endParaRPr spc="0" sz="2716"/>
          </a:p>
          <a:p>
            <a:pPr lvl="1" marL="564080" indent="-194510" defTabSz="886968">
              <a:spcBef>
                <a:spcPts val="400"/>
              </a:spcBef>
              <a:buClrTx/>
              <a:buFontTx/>
              <a:buChar char="•"/>
              <a:defRPr spc="-97" sz="1940">
                <a:latin typeface="Times New Roman"/>
                <a:ea typeface="Times New Roman"/>
                <a:cs typeface="Times New Roman"/>
                <a:sym typeface="Times New Roman"/>
              </a:defRPr>
            </a:pPr>
            <a:r>
              <a:t>Fault tolerance</a:t>
            </a:r>
            <a:endParaRPr spc="0" sz="2716"/>
          </a:p>
          <a:p>
            <a:pPr marL="332787" indent="-332438" defTabSz="886968">
              <a:spcBef>
                <a:spcPts val="500"/>
              </a:spcBef>
              <a:defRPr spc="-97" sz="2328">
                <a:latin typeface="Times New Roman"/>
                <a:ea typeface="Times New Roman"/>
                <a:cs typeface="Times New Roman"/>
                <a:sym typeface="Times New Roman"/>
              </a:defRPr>
            </a:pPr>
            <a:r>
              <a:t>No universally optimal solution exists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0"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Methodology</a:t>
            </a:r>
          </a:p>
        </p:txBody>
      </p:sp>
      <p:sp>
        <p:nvSpPr>
          <p:cNvPr id="331" name="Subtitle 2"/>
          <p:cNvSpPr txBox="1"/>
          <p:nvPr>
            <p:ph type="body" idx="1"/>
          </p:nvPr>
        </p:nvSpPr>
        <p:spPr>
          <a:xfrm>
            <a:off x="457200" y="1604962"/>
            <a:ext cx="8229600" cy="3976688"/>
          </a:xfrm>
          <a:prstGeom prst="rect">
            <a:avLst/>
          </a:prstGeom>
        </p:spPr>
        <p:txBody>
          <a:bodyPr/>
          <a:lstStyle/>
          <a:p>
            <a:pPr marL="329356" indent="-329011" defTabSz="877823">
              <a:spcBef>
                <a:spcPts val="500"/>
              </a:spcBef>
              <a:defRPr spc="-96" sz="1919">
                <a:latin typeface="Times New Roman"/>
                <a:ea typeface="Times New Roman"/>
                <a:cs typeface="Times New Roman"/>
                <a:sym typeface="Times New Roman"/>
              </a:defRPr>
            </a:pPr>
            <a:r>
              <a:t>A Systematic Literature Review (SLR) approach was adopted</a:t>
            </a:r>
          </a:p>
          <a:p>
            <a:pPr marL="329356" indent="-329011" defTabSz="877823">
              <a:spcBef>
                <a:spcPts val="500"/>
              </a:spcBef>
              <a:defRPr spc="-96" sz="1919">
                <a:latin typeface="Times New Roman"/>
                <a:ea typeface="Times New Roman"/>
                <a:cs typeface="Times New Roman"/>
                <a:sym typeface="Times New Roman"/>
              </a:defRPr>
            </a:pPr>
            <a:r>
              <a:t>Research papers published between 2016 and 2026 were analysed</a:t>
            </a:r>
          </a:p>
          <a:p>
            <a:pPr marL="329356" indent="-329011" defTabSz="877823">
              <a:spcBef>
                <a:spcPts val="500"/>
              </a:spcBef>
              <a:defRPr spc="-96" sz="1919">
                <a:latin typeface="Times New Roman"/>
                <a:ea typeface="Times New Roman"/>
                <a:cs typeface="Times New Roman"/>
                <a:sym typeface="Times New Roman"/>
              </a:defRPr>
            </a:pPr>
            <a:r>
              <a:t>Data sources included: </a:t>
            </a:r>
          </a:p>
          <a:p>
            <a:pPr lvl="1" marL="539014" indent="-173254" defTabSz="877823">
              <a:spcBef>
                <a:spcPts val="400"/>
              </a:spcBef>
              <a:buClrTx/>
              <a:buFontTx/>
              <a:buChar char="•"/>
              <a:defRPr spc="-95" sz="1727">
                <a:latin typeface="Times New Roman"/>
                <a:ea typeface="Times New Roman"/>
                <a:cs typeface="Times New Roman"/>
                <a:sym typeface="Times New Roman"/>
              </a:defRPr>
            </a:pPr>
            <a:r>
              <a:t>IEEE Xplore</a:t>
            </a:r>
            <a:endParaRPr spc="0" sz="2688"/>
          </a:p>
          <a:p>
            <a:pPr lvl="1" marL="539014" indent="-173254" defTabSz="877823">
              <a:spcBef>
                <a:spcPts val="400"/>
              </a:spcBef>
              <a:buClrTx/>
              <a:buFontTx/>
              <a:buChar char="•"/>
              <a:defRPr spc="-95" sz="1727">
                <a:latin typeface="Times New Roman"/>
                <a:ea typeface="Times New Roman"/>
                <a:cs typeface="Times New Roman"/>
                <a:sym typeface="Times New Roman"/>
              </a:defRPr>
            </a:pPr>
            <a:r>
              <a:t>ACM Digital Library</a:t>
            </a:r>
            <a:endParaRPr spc="0" sz="2688"/>
          </a:p>
          <a:p>
            <a:pPr lvl="1" marL="539014" indent="-173254" defTabSz="877823">
              <a:spcBef>
                <a:spcPts val="400"/>
              </a:spcBef>
              <a:buClrTx/>
              <a:buFontTx/>
              <a:buChar char="•"/>
              <a:defRPr spc="-95" sz="1727">
                <a:latin typeface="Times New Roman"/>
                <a:ea typeface="Times New Roman"/>
                <a:cs typeface="Times New Roman"/>
                <a:sym typeface="Times New Roman"/>
              </a:defRPr>
            </a:pPr>
            <a:r>
              <a:t>SpringerLink</a:t>
            </a:r>
            <a:endParaRPr spc="0" sz="2688"/>
          </a:p>
          <a:p>
            <a:pPr lvl="1" marL="539014" indent="-173254" defTabSz="877823">
              <a:spcBef>
                <a:spcPts val="400"/>
              </a:spcBef>
              <a:buClrTx/>
              <a:buFontTx/>
              <a:buChar char="•"/>
              <a:defRPr spc="-95" sz="1727">
                <a:latin typeface="Times New Roman"/>
                <a:ea typeface="Times New Roman"/>
                <a:cs typeface="Times New Roman"/>
                <a:sym typeface="Times New Roman"/>
              </a:defRPr>
            </a:pPr>
            <a:r>
              <a:t>ScienceDirect</a:t>
            </a:r>
            <a:endParaRPr spc="0" sz="2688"/>
          </a:p>
          <a:p>
            <a:pPr lvl="1" marL="539014" indent="-173254" defTabSz="877823">
              <a:spcBef>
                <a:spcPts val="400"/>
              </a:spcBef>
              <a:buClrTx/>
              <a:buFontTx/>
              <a:buChar char="•"/>
              <a:defRPr spc="-95" sz="1727">
                <a:latin typeface="Times New Roman"/>
                <a:ea typeface="Times New Roman"/>
                <a:cs typeface="Times New Roman"/>
                <a:sym typeface="Times New Roman"/>
              </a:defRPr>
            </a:pPr>
            <a:r>
              <a:t>Google Scholar and arXiv</a:t>
            </a:r>
            <a:endParaRPr spc="0"/>
          </a:p>
          <a:p>
            <a:pPr marL="329356" indent="-329011" defTabSz="877823">
              <a:spcBef>
                <a:spcPts val="500"/>
              </a:spcBef>
              <a:defRPr spc="-96" sz="1919">
                <a:latin typeface="Times New Roman"/>
                <a:ea typeface="Times New Roman"/>
                <a:cs typeface="Times New Roman"/>
                <a:sym typeface="Times New Roman"/>
              </a:defRPr>
            </a:pPr>
            <a:r>
              <a:t>Keyword-based search strategy was used (microservices, consistency, fault tolerance, etc.)</a:t>
            </a:r>
          </a:p>
          <a:p>
            <a:pPr marL="329356" indent="-329011" defTabSz="877823">
              <a:spcBef>
                <a:spcPts val="500"/>
              </a:spcBef>
              <a:defRPr spc="-96" sz="1919">
                <a:latin typeface="Times New Roman"/>
                <a:ea typeface="Times New Roman"/>
                <a:cs typeface="Times New Roman"/>
                <a:sym typeface="Times New Roman"/>
              </a:defRPr>
            </a:pPr>
            <a:r>
              <a:t>Inclusion and exclusion criteria ensured relevance and quality</a:t>
            </a:r>
          </a:p>
          <a:p>
            <a:pPr marL="329356" indent="-329011" defTabSz="877823">
              <a:spcBef>
                <a:spcPts val="500"/>
              </a:spcBef>
              <a:defRPr spc="-96" sz="1919">
                <a:latin typeface="Times New Roman"/>
                <a:ea typeface="Times New Roman"/>
                <a:cs typeface="Times New Roman"/>
                <a:sym typeface="Times New Roman"/>
              </a:defRPr>
            </a:pPr>
            <a:r>
              <a:t>PRISMA-inspired filtering process applied</a:t>
            </a:r>
          </a:p>
          <a:p>
            <a:pPr marL="329356" indent="-329011" defTabSz="877823">
              <a:spcBef>
                <a:spcPts val="500"/>
              </a:spcBef>
              <a:defRPr spc="-96" sz="1919">
                <a:latin typeface="Times New Roman"/>
                <a:ea typeface="Times New Roman"/>
                <a:cs typeface="Times New Roman"/>
                <a:sym typeface="Times New Roman"/>
              </a:defRPr>
            </a:pPr>
            <a:r>
              <a:t>Final studies were qualitatively analysed to identify patterns and insights</a:t>
            </a:r>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5" name="Title 1"/>
          <p:cNvSpPr txBox="1"/>
          <p:nvPr>
            <p:ph type="title"/>
          </p:nvPr>
        </p:nvSpPr>
        <p:spPr>
          <a:xfrm>
            <a:off x="-1" y="0"/>
            <a:ext cx="6693876" cy="914400"/>
          </a:xfrm>
          <a:prstGeom prst="rect">
            <a:avLst/>
          </a:prstGeom>
        </p:spPr>
        <p:txBody>
          <a:bodyPr/>
          <a:lstStyle>
            <a:lvl1pPr algn="l">
              <a:defRPr spc="-146" sz="4400">
                <a:latin typeface="Times New Roman"/>
                <a:ea typeface="Times New Roman"/>
                <a:cs typeface="Times New Roman"/>
                <a:sym typeface="Times New Roman"/>
              </a:defRPr>
            </a:lvl1pPr>
          </a:lstStyle>
          <a:p>
            <a:pPr/>
            <a:r>
              <a:t>Data Consistency Findings</a:t>
            </a:r>
          </a:p>
        </p:txBody>
      </p:sp>
      <p:sp>
        <p:nvSpPr>
          <p:cNvPr id="336"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Microservices promote decentralized data ownership, making global consistency difficult</a:t>
            </a:r>
          </a:p>
          <a:p>
            <a:pPr>
              <a:defRPr spc="-100" sz="2400">
                <a:latin typeface="Times New Roman"/>
                <a:ea typeface="Times New Roman"/>
                <a:cs typeface="Times New Roman"/>
                <a:sym typeface="Times New Roman"/>
              </a:defRPr>
            </a:pPr>
            <a:r>
              <a:t>Strong consistency ensures correctness but reduces system scalability and availability</a:t>
            </a:r>
          </a:p>
          <a:p>
            <a:pPr>
              <a:defRPr spc="-100" sz="2400">
                <a:latin typeface="Times New Roman"/>
                <a:ea typeface="Times New Roman"/>
                <a:cs typeface="Times New Roman"/>
                <a:sym typeface="Times New Roman"/>
              </a:defRPr>
            </a:pPr>
            <a:r>
              <a:t>Eventual consistency is widely adopted in modern systems</a:t>
            </a:r>
          </a:p>
          <a:p>
            <a:pPr>
              <a:defRPr spc="-100" sz="2400">
                <a:latin typeface="Times New Roman"/>
                <a:ea typeface="Times New Roman"/>
                <a:cs typeface="Times New Roman"/>
                <a:sym typeface="Times New Roman"/>
              </a:defRPr>
            </a:pPr>
            <a:r>
              <a:t>BASE model is preferred over traditional ACID transactions</a:t>
            </a:r>
          </a:p>
          <a:p>
            <a:pPr>
              <a:defRPr spc="-100" sz="2400">
                <a:latin typeface="Times New Roman"/>
                <a:ea typeface="Times New Roman"/>
                <a:cs typeface="Times New Roman"/>
                <a:sym typeface="Times New Roman"/>
              </a:defRPr>
            </a:pPr>
            <a:r>
              <a:t>Eventual consistency introduces issues like stale reads and write conflicts</a:t>
            </a:r>
          </a:p>
          <a:p>
            <a:pPr>
              <a:defRPr spc="-100" sz="2400">
                <a:latin typeface="Times New Roman"/>
                <a:ea typeface="Times New Roman"/>
                <a:cs typeface="Times New Roman"/>
                <a:sym typeface="Times New Roman"/>
              </a:defRPr>
            </a:pPr>
            <a:r>
              <a:t>Developers must handle inconsistencies at the application level</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0" name="Title 1"/>
          <p:cNvSpPr txBox="1"/>
          <p:nvPr>
            <p:ph type="title"/>
          </p:nvPr>
        </p:nvSpPr>
        <p:spPr>
          <a:xfrm>
            <a:off x="0" y="0"/>
            <a:ext cx="6400800" cy="914400"/>
          </a:xfrm>
          <a:prstGeom prst="rect">
            <a:avLst/>
          </a:prstGeom>
        </p:spPr>
        <p:txBody>
          <a:bodyPr/>
          <a:lstStyle>
            <a:lvl1pPr algn="l">
              <a:defRPr spc="-146" sz="4400">
                <a:latin typeface="Times New Roman"/>
                <a:ea typeface="Times New Roman"/>
                <a:cs typeface="Times New Roman"/>
                <a:sym typeface="Times New Roman"/>
              </a:defRPr>
            </a:lvl1pPr>
          </a:lstStyle>
          <a:p>
            <a:pPr/>
            <a:r>
              <a:t>Transaction Management</a:t>
            </a:r>
          </a:p>
        </p:txBody>
      </p:sp>
      <p:sp>
        <p:nvSpPr>
          <p:cNvPr id="341"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Two-Phase Commit (2PC):</a:t>
            </a:r>
          </a:p>
          <a:p>
            <a:pPr lvl="1" marL="581526" indent="-200526">
              <a:spcBef>
                <a:spcPts val="500"/>
              </a:spcBef>
              <a:buClrTx/>
              <a:buFontTx/>
              <a:buChar char="•"/>
              <a:defRPr spc="-100" sz="2000">
                <a:latin typeface="Times New Roman"/>
                <a:ea typeface="Times New Roman"/>
                <a:cs typeface="Times New Roman"/>
                <a:sym typeface="Times New Roman"/>
              </a:defRPr>
            </a:pPr>
            <a:r>
              <a:t>Ensures strong consistency and atomic transactions</a:t>
            </a:r>
            <a:endParaRPr spc="-1" sz="2800"/>
          </a:p>
          <a:p>
            <a:pPr lvl="1" marL="581526" indent="-200526">
              <a:spcBef>
                <a:spcPts val="500"/>
              </a:spcBef>
              <a:buClrTx/>
              <a:buFontTx/>
              <a:buChar char="•"/>
              <a:defRPr spc="-100" sz="2000">
                <a:latin typeface="Times New Roman"/>
                <a:ea typeface="Times New Roman"/>
                <a:cs typeface="Times New Roman"/>
                <a:sym typeface="Times New Roman"/>
              </a:defRPr>
            </a:pPr>
            <a:r>
              <a:t>Blocking in nature and sensitive to failures</a:t>
            </a:r>
            <a:endParaRPr spc="-1" sz="2800"/>
          </a:p>
          <a:p>
            <a:pPr lvl="1" marL="581526" indent="-200526">
              <a:spcBef>
                <a:spcPts val="500"/>
              </a:spcBef>
              <a:buClrTx/>
              <a:buFontTx/>
              <a:buChar char="•"/>
              <a:defRPr spc="-100" sz="2000">
                <a:latin typeface="Times New Roman"/>
                <a:ea typeface="Times New Roman"/>
                <a:cs typeface="Times New Roman"/>
                <a:sym typeface="Times New Roman"/>
              </a:defRPr>
            </a:pPr>
            <a:r>
              <a:t>Reduces system availability in distributed environments</a:t>
            </a:r>
            <a:endParaRPr spc="-1" sz="2800"/>
          </a:p>
          <a:p>
            <a:pPr>
              <a:defRPr spc="-100" sz="2400">
                <a:latin typeface="Times New Roman"/>
                <a:ea typeface="Times New Roman"/>
                <a:cs typeface="Times New Roman"/>
                <a:sym typeface="Times New Roman"/>
              </a:defRPr>
            </a:pPr>
            <a:r>
              <a:t>Saga Pattern:</a:t>
            </a:r>
          </a:p>
          <a:p>
            <a:pPr lvl="1" marL="581526" indent="-200526">
              <a:spcBef>
                <a:spcPts val="500"/>
              </a:spcBef>
              <a:buClrTx/>
              <a:buFontTx/>
              <a:buChar char="•"/>
              <a:defRPr spc="-100" sz="2000">
                <a:latin typeface="Times New Roman"/>
                <a:ea typeface="Times New Roman"/>
                <a:cs typeface="Times New Roman"/>
                <a:sym typeface="Times New Roman"/>
              </a:defRPr>
            </a:pPr>
            <a:r>
              <a:t>Breaks transactions into smaller local operations</a:t>
            </a:r>
            <a:endParaRPr spc="-1" sz="2800"/>
          </a:p>
          <a:p>
            <a:pPr lvl="1" marL="581526" indent="-200526">
              <a:spcBef>
                <a:spcPts val="500"/>
              </a:spcBef>
              <a:buClrTx/>
              <a:buFontTx/>
              <a:buChar char="•"/>
              <a:defRPr spc="-100" sz="2000">
                <a:latin typeface="Times New Roman"/>
                <a:ea typeface="Times New Roman"/>
                <a:cs typeface="Times New Roman"/>
                <a:sym typeface="Times New Roman"/>
              </a:defRPr>
            </a:pPr>
            <a:r>
              <a:t>Uses compensating actions for rollback</a:t>
            </a:r>
            <a:endParaRPr spc="-1" sz="2800"/>
          </a:p>
          <a:p>
            <a:pPr lvl="1" marL="581526" indent="-200526">
              <a:spcBef>
                <a:spcPts val="500"/>
              </a:spcBef>
              <a:buClrTx/>
              <a:buFontTx/>
              <a:buChar char="•"/>
              <a:defRPr spc="-100" sz="2000">
                <a:latin typeface="Times New Roman"/>
                <a:ea typeface="Times New Roman"/>
                <a:cs typeface="Times New Roman"/>
                <a:sym typeface="Times New Roman"/>
              </a:defRPr>
            </a:pPr>
            <a:r>
              <a:t>Improves fault tolerance and scalability</a:t>
            </a:r>
            <a:endParaRPr spc="-1" sz="2800"/>
          </a:p>
          <a:p>
            <a:pPr lvl="1" marL="581526" indent="-200526">
              <a:spcBef>
                <a:spcPts val="500"/>
              </a:spcBef>
              <a:buClrTx/>
              <a:buFontTx/>
              <a:buChar char="•"/>
              <a:defRPr spc="-100" sz="2000">
                <a:latin typeface="Times New Roman"/>
                <a:ea typeface="Times New Roman"/>
                <a:cs typeface="Times New Roman"/>
                <a:sym typeface="Times New Roman"/>
              </a:defRPr>
            </a:pPr>
            <a:r>
              <a:t>Introduces higher implementation complexity</a:t>
            </a:r>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5" name="Title 1"/>
          <p:cNvSpPr txBox="1"/>
          <p:nvPr>
            <p:ph type="title"/>
          </p:nvPr>
        </p:nvSpPr>
        <p:spPr>
          <a:xfrm>
            <a:off x="-1" y="0"/>
            <a:ext cx="8030310" cy="914400"/>
          </a:xfrm>
          <a:prstGeom prst="rect">
            <a:avLst/>
          </a:prstGeom>
        </p:spPr>
        <p:txBody>
          <a:bodyPr/>
          <a:lstStyle>
            <a:lvl1pPr algn="l">
              <a:defRPr spc="-146" sz="4400">
                <a:latin typeface="Times New Roman"/>
                <a:ea typeface="Times New Roman"/>
                <a:cs typeface="Times New Roman"/>
                <a:sym typeface="Times New Roman"/>
              </a:defRPr>
            </a:lvl1pPr>
          </a:lstStyle>
          <a:p>
            <a:pPr/>
            <a:r>
              <a:t>Fault Tolerance Challenges</a:t>
            </a:r>
          </a:p>
        </p:txBody>
      </p:sp>
      <p:sp>
        <p:nvSpPr>
          <p:cNvPr id="346"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Partial failures occur when some services fail while others continue</a:t>
            </a:r>
          </a:p>
          <a:p>
            <a:pPr>
              <a:defRPr spc="-100" sz="2400">
                <a:latin typeface="Times New Roman"/>
                <a:ea typeface="Times New Roman"/>
                <a:cs typeface="Times New Roman"/>
                <a:sym typeface="Times New Roman"/>
              </a:defRPr>
            </a:pPr>
            <a:r>
              <a:t>Network communication introduces latency and transient failures</a:t>
            </a:r>
          </a:p>
          <a:p>
            <a:pPr>
              <a:defRPr spc="-100" sz="2400">
                <a:latin typeface="Times New Roman"/>
                <a:ea typeface="Times New Roman"/>
                <a:cs typeface="Times New Roman"/>
                <a:sym typeface="Times New Roman"/>
              </a:defRPr>
            </a:pPr>
            <a:r>
              <a:t>Cascading failures can occur due to service dependencies</a:t>
            </a:r>
          </a:p>
          <a:p>
            <a:pPr>
              <a:defRPr spc="-100" sz="2400">
                <a:latin typeface="Times New Roman"/>
                <a:ea typeface="Times New Roman"/>
                <a:cs typeface="Times New Roman"/>
                <a:sym typeface="Times New Roman"/>
              </a:defRPr>
            </a:pPr>
            <a:r>
              <a:t>Retry mechanisms can sometimes worsen system overload</a:t>
            </a:r>
          </a:p>
          <a:p>
            <a:pPr>
              <a:defRPr spc="-100" sz="2400">
                <a:latin typeface="Times New Roman"/>
                <a:ea typeface="Times New Roman"/>
                <a:cs typeface="Times New Roman"/>
                <a:sym typeface="Times New Roman"/>
              </a:defRPr>
            </a:pPr>
            <a:r>
              <a:t>Increasing system size makes dependency management complex</a:t>
            </a:r>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0" name="Title 1"/>
          <p:cNvSpPr txBox="1"/>
          <p:nvPr>
            <p:ph type="title"/>
          </p:nvPr>
        </p:nvSpPr>
        <p:spPr>
          <a:xfrm>
            <a:off x="-1" y="0"/>
            <a:ext cx="6998676" cy="914400"/>
          </a:xfrm>
          <a:prstGeom prst="rect">
            <a:avLst/>
          </a:prstGeom>
        </p:spPr>
        <p:txBody>
          <a:bodyPr/>
          <a:lstStyle>
            <a:lvl1pPr algn="l">
              <a:defRPr spc="-146" sz="4400">
                <a:latin typeface="Times New Roman"/>
                <a:ea typeface="Times New Roman"/>
                <a:cs typeface="Times New Roman"/>
                <a:sym typeface="Times New Roman"/>
              </a:defRPr>
            </a:lvl1pPr>
          </a:lstStyle>
          <a:p>
            <a:pPr/>
            <a:r>
              <a:t>Fault Tolerance Mechanisms </a:t>
            </a:r>
          </a:p>
        </p:txBody>
      </p:sp>
      <p:sp>
        <p:nvSpPr>
          <p:cNvPr id="351"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Circuit Breaker pattern prevents repeated calls to failing services</a:t>
            </a:r>
          </a:p>
          <a:p>
            <a:pPr>
              <a:defRPr spc="-100" sz="2400">
                <a:latin typeface="Times New Roman"/>
                <a:ea typeface="Times New Roman"/>
                <a:cs typeface="Times New Roman"/>
                <a:sym typeface="Times New Roman"/>
              </a:defRPr>
            </a:pPr>
            <a:r>
              <a:t>Retry and timeout mechanisms handle temporary failures</a:t>
            </a:r>
          </a:p>
          <a:p>
            <a:pPr>
              <a:defRPr spc="-100" sz="2400">
                <a:latin typeface="Times New Roman"/>
                <a:ea typeface="Times New Roman"/>
                <a:cs typeface="Times New Roman"/>
                <a:sym typeface="Times New Roman"/>
              </a:defRPr>
            </a:pPr>
            <a:r>
              <a:t>Service replication improves availability and load distribution</a:t>
            </a:r>
          </a:p>
          <a:p>
            <a:pPr>
              <a:defRPr spc="-100" sz="2400">
                <a:latin typeface="Times New Roman"/>
                <a:ea typeface="Times New Roman"/>
                <a:cs typeface="Times New Roman"/>
                <a:sym typeface="Times New Roman"/>
              </a:defRPr>
            </a:pPr>
            <a:r>
              <a:t>Asynchronous communication reduces tight coupling between services</a:t>
            </a:r>
          </a:p>
          <a:p>
            <a:pPr>
              <a:defRPr spc="-100" sz="2400">
                <a:latin typeface="Times New Roman"/>
                <a:ea typeface="Times New Roman"/>
                <a:cs typeface="Times New Roman"/>
                <a:sym typeface="Times New Roman"/>
              </a:defRPr>
            </a:pPr>
            <a:r>
              <a:t>Monitoring and health checks improve system resilience</a:t>
            </a:r>
          </a:p>
          <a:p>
            <a:pPr>
              <a:defRPr spc="-100" sz="2400">
                <a:latin typeface="Times New Roman"/>
                <a:ea typeface="Times New Roman"/>
                <a:cs typeface="Times New Roman"/>
                <a:sym typeface="Times New Roman"/>
              </a:defRPr>
            </a:pPr>
            <a:r>
              <a:t>Combination of multiple mechanisms provides better fault handling</a:t>
            </a:r>
          </a:p>
        </p:txBody>
      </p:sp>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Comparative Analysis</a:t>
            </a:r>
          </a:p>
        </p:txBody>
      </p:sp>
      <p:graphicFrame>
        <p:nvGraphicFramePr>
          <p:cNvPr id="356" name="Table 10"/>
          <p:cNvGraphicFramePr/>
          <p:nvPr/>
        </p:nvGraphicFramePr>
        <p:xfrm>
          <a:off x="189188" y="950962"/>
          <a:ext cx="4256689" cy="5465605"/>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481956"/>
                <a:gridCol w="1355543"/>
                <a:gridCol w="1419188"/>
              </a:tblGrid>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Aspect</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Strong Consistency</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Eventual Consistency</a:t>
                      </a:r>
                    </a:p>
                  </a:txBody>
                  <a:tcPr marL="0" marR="0" marT="0" marB="0" anchor="ctr" anchorCtr="0" horzOverflow="overflow"/>
                </a:tc>
              </a:tr>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Data correctness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Immediate</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Temporary inconsistencies</a:t>
                      </a:r>
                    </a:p>
                  </a:txBody>
                  <a:tcPr marL="0" marR="0" marT="0" marB="0" anchor="ctr" anchorCtr="0" horzOverflow="overflow"/>
                </a:tc>
              </a:tr>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Availability</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Lower</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Higher</a:t>
                      </a:r>
                    </a:p>
                  </a:txBody>
                  <a:tcPr marL="0" marR="0" marT="0" marB="0" anchor="ctr" anchorCtr="0" horzOverflow="overflow"/>
                </a:tc>
              </a:tr>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Scalability</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Limited</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High</a:t>
                      </a:r>
                    </a:p>
                  </a:txBody>
                  <a:tcPr marL="0" marR="0" marT="0" marB="0" anchor="ctr" anchorCtr="0" horzOverflow="overflow"/>
                </a:tc>
              </a:tr>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Fault tolerance</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Weaker under failures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Better resilience</a:t>
                      </a:r>
                    </a:p>
                  </a:txBody>
                  <a:tcPr marL="0" marR="0" marT="0" marB="0" anchor="ctr" anchorCtr="0" horzOverflow="overflow"/>
                </a:tc>
              </a:tr>
              <a:tr h="910934">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Implementation complexity</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High (coordination required)</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High (application-level handling)</a:t>
                      </a:r>
                    </a:p>
                  </a:txBody>
                  <a:tcPr marL="0" marR="0" marT="0" marB="0" anchor="ctr" anchorCtr="0" horzOverflow="overflow"/>
                </a:tc>
              </a:tr>
            </a:tbl>
          </a:graphicData>
        </a:graphic>
      </p:graphicFrame>
      <p:graphicFrame>
        <p:nvGraphicFramePr>
          <p:cNvPr id="357" name="Table 11"/>
          <p:cNvGraphicFramePr/>
          <p:nvPr/>
        </p:nvGraphicFramePr>
        <p:xfrm>
          <a:off x="4572000" y="950962"/>
          <a:ext cx="4382812" cy="2478037"/>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460336"/>
                <a:gridCol w="1461238"/>
                <a:gridCol w="1461238"/>
              </a:tblGrid>
              <a:tr h="826012">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Transaction Model</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Advantages</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Limitations</a:t>
                      </a:r>
                    </a:p>
                  </a:txBody>
                  <a:tcPr marL="0" marR="0" marT="0" marB="0" anchor="ctr" anchorCtr="0" horzOverflow="overflow"/>
                </a:tc>
              </a:tr>
              <a:tr h="826012">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Two-Phase Commit (2PC)</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Atomicity guarantees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Blocking, failure-prone</a:t>
                      </a:r>
                    </a:p>
                  </a:txBody>
                  <a:tcPr marL="0" marR="0" marT="0" marB="0" anchor="ctr" anchorCtr="0" horzOverflow="overflow"/>
                </a:tc>
              </a:tr>
              <a:tr h="826012">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Saga Pattern</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Fault-tolerant, scalable</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Complex compensation logic</a:t>
                      </a:r>
                    </a:p>
                  </a:txBody>
                  <a:tcPr marL="0" marR="0" marT="0" marB="0" anchor="ctr" anchorCtr="0" horzOverflow="overflow"/>
                </a:tc>
              </a:tr>
            </a:tbl>
          </a:graphicData>
        </a:graphic>
      </p:graphicFrame>
      <p:graphicFrame>
        <p:nvGraphicFramePr>
          <p:cNvPr id="358" name="Table 12"/>
          <p:cNvGraphicFramePr/>
          <p:nvPr/>
        </p:nvGraphicFramePr>
        <p:xfrm>
          <a:off x="4565915" y="3859698"/>
          <a:ext cx="4382812" cy="2478037"/>
        </p:xfrm>
        <a:graphic xmlns:a="http://schemas.openxmlformats.org/drawingml/2006/main">
          <a:graphicData uri="http://schemas.openxmlformats.org/drawingml/2006/table">
            <a:tbl>
              <a:tblPr firstCol="1" firstRow="1" lastCol="0" lastRow="0" bandCol="0" bandRow="1" rtl="0">
                <a:tableStyleId>{4C3C2611-4C71-4FC5-86AE-919BDF0F9419}</a:tableStyleId>
              </a:tblPr>
              <a:tblGrid>
                <a:gridCol w="1460335"/>
                <a:gridCol w="1461238"/>
                <a:gridCol w="1461238"/>
              </a:tblGrid>
              <a:tr h="619509">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Fault Tolerance Technique</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Strengths</a:t>
                      </a:r>
                    </a:p>
                  </a:txBody>
                  <a:tcPr marL="0" marR="0" marT="0" marB="0" anchor="ctr" anchorCtr="0" horzOverflow="overflow"/>
                </a:tc>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Weaknesses</a:t>
                      </a:r>
                    </a:p>
                  </a:txBody>
                  <a:tcPr marL="0" marR="0" marT="0" marB="0" anchor="ctr" anchorCtr="0" horzOverflow="overflow"/>
                </a:tc>
              </a:tr>
              <a:tr h="619509">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Retries &amp; Timeouts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Simple</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Can amplify failures</a:t>
                      </a:r>
                    </a:p>
                  </a:txBody>
                  <a:tcPr marL="0" marR="0" marT="0" marB="0" anchor="ctr" anchorCtr="0" horzOverflow="overflow"/>
                </a:tc>
              </a:tr>
              <a:tr h="619509">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Circuit Breakers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Prevent cascading failures</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Configuration overhead</a:t>
                      </a:r>
                    </a:p>
                  </a:txBody>
                  <a:tcPr marL="0" marR="0" marT="0" marB="0" anchor="ctr" anchorCtr="0" horzOverflow="overflow"/>
                </a:tc>
              </a:tr>
              <a:tr h="619509">
                <a:tc>
                  <a:txBody>
                    <a:bodyPr/>
                    <a:lstStyle/>
                    <a:p>
                      <a:pPr algn="ctr">
                        <a:lnSpc>
                          <a:spcPct val="95000"/>
                        </a:lnSpc>
                        <a:spcBef>
                          <a:spcPts val="600"/>
                        </a:spcBef>
                        <a:defRPr b="0" spc="0" sz="1800">
                          <a:solidFill>
                            <a:srgbClr val="000000"/>
                          </a:solidFill>
                        </a:defRPr>
                      </a:pPr>
                      <a:r>
                        <a:rPr b="1" sz="1500">
                          <a:solidFill>
                            <a:srgbClr val="FFFFFF"/>
                          </a:solidFill>
                          <a:latin typeface="Times New Roman"/>
                          <a:ea typeface="Times New Roman"/>
                          <a:cs typeface="Times New Roman"/>
                          <a:sym typeface="Times New Roman"/>
                        </a:rPr>
                        <a:t>Replication</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High availability</a:t>
                      </a:r>
                    </a:p>
                  </a:txBody>
                  <a:tcPr marL="0" marR="0" marT="0" marB="0" anchor="ctr" anchorCtr="0" horzOverflow="overflow"/>
                </a:tc>
                <a:tc>
                  <a:txBody>
                    <a:bodyPr/>
                    <a:lstStyle/>
                    <a:p>
                      <a:pPr algn="ctr">
                        <a:lnSpc>
                          <a:spcPct val="95000"/>
                        </a:lnSpc>
                        <a:spcBef>
                          <a:spcPts val="600"/>
                        </a:spcBef>
                        <a:defRPr spc="0" sz="1800"/>
                      </a:pPr>
                      <a:r>
                        <a:rPr sz="1500">
                          <a:latin typeface="Times New Roman"/>
                          <a:ea typeface="Times New Roman"/>
                          <a:cs typeface="Times New Roman"/>
                          <a:sym typeface="Times New Roman"/>
                        </a:rPr>
                        <a:t>Resource cost</a:t>
                      </a:r>
                    </a:p>
                  </a:txBody>
                  <a:tcPr marL="0" marR="0" marT="0" marB="0" anchor="ctr" anchorCtr="0" horzOverflow="overflow"/>
                </a:tc>
              </a:tr>
            </a:tbl>
          </a:graphicData>
        </a:graphic>
      </p:graphicFrame>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2"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Key Findings</a:t>
            </a:r>
          </a:p>
        </p:txBody>
      </p:sp>
      <p:sp>
        <p:nvSpPr>
          <p:cNvPr id="363"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Eventual consistency is preferred in large-scale microservices systems</a:t>
            </a:r>
          </a:p>
          <a:p>
            <a:pPr>
              <a:defRPr spc="-100" sz="2400">
                <a:latin typeface="Times New Roman"/>
                <a:ea typeface="Times New Roman"/>
                <a:cs typeface="Times New Roman"/>
                <a:sym typeface="Times New Roman"/>
              </a:defRPr>
            </a:pPr>
            <a:r>
              <a:t>Saga pattern is more practical than Two-Phase Commit</a:t>
            </a:r>
          </a:p>
          <a:p>
            <a:pPr>
              <a:defRPr spc="-100" sz="2400">
                <a:latin typeface="Times New Roman"/>
                <a:ea typeface="Times New Roman"/>
                <a:cs typeface="Times New Roman"/>
                <a:sym typeface="Times New Roman"/>
              </a:defRPr>
            </a:pPr>
            <a:r>
              <a:t>Circuit breakers are effective in preventing cascading failures</a:t>
            </a:r>
          </a:p>
          <a:p>
            <a:pPr>
              <a:defRPr spc="-100" sz="2400">
                <a:latin typeface="Times New Roman"/>
                <a:ea typeface="Times New Roman"/>
                <a:cs typeface="Times New Roman"/>
                <a:sym typeface="Times New Roman"/>
              </a:defRPr>
            </a:pPr>
            <a:r>
              <a:t>Combining multiple resilience patterns improves reliability</a:t>
            </a:r>
          </a:p>
          <a:p>
            <a:pPr>
              <a:defRPr spc="-100" sz="2400">
                <a:latin typeface="Times New Roman"/>
                <a:ea typeface="Times New Roman"/>
                <a:cs typeface="Times New Roman"/>
                <a:sym typeface="Times New Roman"/>
              </a:defRPr>
            </a:pPr>
            <a:r>
              <a:t>Trade-offs between consistency, availability, and fault tolerance are unavoidable</a:t>
            </a:r>
          </a:p>
          <a:p>
            <a:pPr>
              <a:defRPr spc="-100" sz="2400">
                <a:latin typeface="Times New Roman"/>
                <a:ea typeface="Times New Roman"/>
                <a:cs typeface="Times New Roman"/>
                <a:sym typeface="Times New Roman"/>
              </a:defRPr>
            </a:pPr>
            <a:r>
              <a:t>System design decisions depend on specific use-case requirements</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7"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Conclusion</a:t>
            </a:r>
          </a:p>
        </p:txBody>
      </p:sp>
      <p:sp>
        <p:nvSpPr>
          <p:cNvPr id="368"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Microservices architecture provides scalability and flexibility but introduces complexity</a:t>
            </a:r>
          </a:p>
          <a:p>
            <a:pPr>
              <a:defRPr spc="-100" sz="2400">
                <a:latin typeface="Times New Roman"/>
                <a:ea typeface="Times New Roman"/>
                <a:cs typeface="Times New Roman"/>
                <a:sym typeface="Times New Roman"/>
              </a:defRPr>
            </a:pPr>
            <a:r>
              <a:t>Maintaining data consistency in distributed systems remains a major challenge</a:t>
            </a:r>
          </a:p>
          <a:p>
            <a:pPr>
              <a:defRPr spc="-100" sz="2400">
                <a:latin typeface="Times New Roman"/>
                <a:ea typeface="Times New Roman"/>
                <a:cs typeface="Times New Roman"/>
                <a:sym typeface="Times New Roman"/>
              </a:defRPr>
            </a:pPr>
            <a:r>
              <a:t>Fault tolerance is essential to prevent system-wide failures</a:t>
            </a:r>
          </a:p>
          <a:p>
            <a:pPr>
              <a:defRPr spc="-100" sz="2400">
                <a:latin typeface="Times New Roman"/>
                <a:ea typeface="Times New Roman"/>
                <a:cs typeface="Times New Roman"/>
                <a:sym typeface="Times New Roman"/>
              </a:defRPr>
            </a:pPr>
            <a:r>
              <a:t>No single approach can optimize all system requirements</a:t>
            </a:r>
          </a:p>
          <a:p>
            <a:pPr>
              <a:defRPr spc="-100" sz="2400">
                <a:latin typeface="Times New Roman"/>
                <a:ea typeface="Times New Roman"/>
                <a:cs typeface="Times New Roman"/>
                <a:sym typeface="Times New Roman"/>
              </a:defRPr>
            </a:pPr>
            <a:r>
              <a:t>Effective architectures rely on a combination of strategies</a:t>
            </a:r>
          </a:p>
          <a:p>
            <a:pPr>
              <a:defRPr spc="-100" sz="2400">
                <a:latin typeface="Times New Roman"/>
                <a:ea typeface="Times New Roman"/>
                <a:cs typeface="Times New Roman"/>
                <a:sym typeface="Times New Roman"/>
              </a:defRPr>
            </a:pPr>
            <a:r>
              <a:t>Design decisions must balance consistency, availability, and scalability</a:t>
            </a:r>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2" name="Title 1"/>
          <p:cNvSpPr txBox="1"/>
          <p:nvPr>
            <p:ph type="title"/>
          </p:nvPr>
        </p:nvSpPr>
        <p:spPr>
          <a:xfrm>
            <a:off x="0" y="-1"/>
            <a:ext cx="5486040" cy="914042"/>
          </a:xfrm>
          <a:prstGeom prst="rect">
            <a:avLst/>
          </a:prstGeom>
        </p:spPr>
        <p:txBody>
          <a:bodyPr/>
          <a:lstStyle>
            <a:lvl1pPr algn="l">
              <a:defRPr spc="-146" sz="4400">
                <a:latin typeface="Times New Roman"/>
                <a:ea typeface="Times New Roman"/>
                <a:cs typeface="Times New Roman"/>
                <a:sym typeface="Times New Roman"/>
              </a:defRPr>
            </a:lvl1pPr>
          </a:lstStyle>
          <a:p>
            <a:pPr/>
            <a:r>
              <a:t>Future Scope</a:t>
            </a:r>
          </a:p>
        </p:txBody>
      </p:sp>
      <p:sp>
        <p:nvSpPr>
          <p:cNvPr id="373" name="Subtitle 2"/>
          <p:cNvSpPr txBox="1"/>
          <p:nvPr>
            <p:ph type="body" idx="1"/>
          </p:nvPr>
        </p:nvSpPr>
        <p:spPr>
          <a:xfrm>
            <a:off x="457200" y="1604962"/>
            <a:ext cx="8229600" cy="3976688"/>
          </a:xfrm>
          <a:prstGeom prst="rect">
            <a:avLst/>
          </a:prstGeom>
        </p:spPr>
        <p:txBody>
          <a:bodyPr/>
          <a:lstStyle/>
          <a:p>
            <a:pPr>
              <a:defRPr spc="-100" sz="2400">
                <a:latin typeface="Times New Roman"/>
                <a:ea typeface="Times New Roman"/>
                <a:cs typeface="Times New Roman"/>
                <a:sym typeface="Times New Roman"/>
              </a:defRPr>
            </a:pPr>
            <a:r>
              <a:t>Development of standardized frameworks for evaluating consistency and fault tolerance</a:t>
            </a:r>
          </a:p>
          <a:p>
            <a:pPr>
              <a:defRPr spc="-100" sz="2400">
                <a:latin typeface="Times New Roman"/>
                <a:ea typeface="Times New Roman"/>
                <a:cs typeface="Times New Roman"/>
                <a:sym typeface="Times New Roman"/>
              </a:defRPr>
            </a:pPr>
            <a:r>
              <a:t>Increased focus on real-world implementation and validation</a:t>
            </a:r>
          </a:p>
          <a:p>
            <a:pPr>
              <a:defRPr spc="-100" sz="2400">
                <a:latin typeface="Times New Roman"/>
                <a:ea typeface="Times New Roman"/>
                <a:cs typeface="Times New Roman"/>
                <a:sym typeface="Times New Roman"/>
              </a:defRPr>
            </a:pPr>
            <a:r>
              <a:t>Reducing complexity of distributed transaction management</a:t>
            </a:r>
          </a:p>
          <a:p>
            <a:pPr>
              <a:defRPr spc="-100" sz="2400">
                <a:latin typeface="Times New Roman"/>
                <a:ea typeface="Times New Roman"/>
                <a:cs typeface="Times New Roman"/>
                <a:sym typeface="Times New Roman"/>
              </a:defRPr>
            </a:pPr>
            <a:r>
              <a:t>Exploring AI-based fault prediction and automated recovery systems</a:t>
            </a:r>
          </a:p>
          <a:p>
            <a:pPr>
              <a:defRPr spc="-100" sz="2400">
                <a:latin typeface="Times New Roman"/>
                <a:ea typeface="Times New Roman"/>
                <a:cs typeface="Times New Roman"/>
                <a:sym typeface="Times New Roman"/>
              </a:defRPr>
            </a:pPr>
            <a:r>
              <a:t>Advancements in self-healing microservices architectures</a:t>
            </a:r>
          </a:p>
        </p:txBody>
      </p:sp>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7" name="TextShape 1"/>
          <p:cNvSpPr txBox="1"/>
          <p:nvPr/>
        </p:nvSpPr>
        <p:spPr>
          <a:xfrm>
            <a:off x="1343296" y="3059287"/>
            <a:ext cx="6614160" cy="935370"/>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lgn="ctr">
              <a:defRPr sz="6000">
                <a:latin typeface="Times New Roman"/>
                <a:ea typeface="Times New Roman"/>
                <a:cs typeface="Times New Roman"/>
                <a:sym typeface="Times New Roman"/>
              </a:defRPr>
            </a:lvl1pPr>
          </a:lstStyle>
          <a:p>
            <a:pPr/>
            <a:r>
              <a:t>Thank You</a:t>
            </a:r>
          </a:p>
        </p:txBody>
      </p:sp>
      <p:sp>
        <p:nvSpPr>
          <p:cNvPr id="378" name="TextShape 3"/>
          <p:cNvSpPr txBox="1"/>
          <p:nvPr>
            <p:ph type="sldNum" sz="quarter" idx="4294967295"/>
          </p:nvPr>
        </p:nvSpPr>
        <p:spPr>
          <a:xfrm>
            <a:off x="8428069" y="6414707"/>
            <a:ext cx="258371" cy="248306"/>
          </a:xfrm>
          <a:prstGeom prst="rect">
            <a:avLst/>
          </a:prstGeom>
          <a:extLst>
            <a:ext uri="{C572A759-6A51-4108-AA02-DFA0A04FC94B}">
              <ma14:wrappingTextBoxFlag xmlns:ma14="http://schemas.microsoft.com/office/mac/drawingml/2011/main" val="1"/>
            </a:ext>
          </a:extLst>
        </p:spPr>
        <p:txBody>
          <a:bodyPr/>
          <a:lstStyle>
            <a:lvl1pPr>
              <a:defRPr b="1">
                <a:solidFill>
                  <a:srgbClr val="000000"/>
                </a:solidFill>
              </a:defRPr>
            </a:lvl1pPr>
          </a:lstStyle>
          <a:p>
            <a:pPr/>
            <a:fld id="{86CB4B4D-7CA3-9044-876B-883B54F8677D}" type="slidenum"/>
          </a:p>
        </p:txBody>
      </p:sp>
      <p:sp>
        <p:nvSpPr>
          <p:cNvPr id="379" name="TextBox 1"/>
          <p:cNvSpPr txBox="1"/>
          <p:nvPr/>
        </p:nvSpPr>
        <p:spPr>
          <a:xfrm>
            <a:off x="45719" y="6356520"/>
            <a:ext cx="4701278" cy="311409"/>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lvl1pPr>
              <a:defRPr sz="1600">
                <a:latin typeface="Times New Roman"/>
                <a:ea typeface="Times New Roman"/>
                <a:cs typeface="Times New Roman"/>
                <a:sym typeface="Times New Roman"/>
              </a:defRPr>
            </a:lvl1pPr>
          </a:lstStyle>
          <a:p>
            <a:pPr/>
            <a:r>
              <a:t>References available in the submitted paper.</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miter lim="800000"/>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3000" dir="5400000">
              <a:srgbClr val="000000">
                <a:alpha val="35000"/>
              </a:srgbClr>
            </a:outerShdw>
          </a:effectLst>
        </a:effectStyle>
        <a:effectStyle>
          <a:effectLst>
            <a:outerShdw sx="100000" sy="100000" kx="0" ky="0" algn="b" rotWithShape="0" blurRad="38100" dist="20000" dir="5400000">
              <a:srgbClr val="000000">
                <a:alpha val="38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25400" cap="flat">
          <a:solidFill>
            <a:schemeClr val="accent1"/>
          </a:solidFill>
          <a:prstDash val="solid"/>
          <a:miter lim="800000"/>
        </a:ln>
        <a:effectLst>
          <a:outerShdw sx="100000" sy="100000" kx="0" ky="0" algn="b" rotWithShape="0" blurRad="38100" dist="23000" dir="5400000">
            <a:srgbClr val="000000">
              <a:alpha val="35000"/>
            </a:srgbClr>
          </a:outerShdw>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chemeClr val="accent1"/>
          </a:solidFill>
          <a:prstDash val="solid"/>
          <a:miter lim="800000"/>
        </a:ln>
        <a:effectLst>
          <a:outerShdw sx="100000" sy="100000" kx="0" ky="0" algn="b" rotWithShape="0" blurRad="38100" dist="20000" dir="5400000">
            <a:srgbClr val="000000">
              <a:alpha val="38000"/>
            </a:srgbClr>
          </a:outerShdw>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Arial"/>
            <a:ea typeface="Arial"/>
            <a:cs typeface="Arial"/>
            <a:sym typeface="Arial"/>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