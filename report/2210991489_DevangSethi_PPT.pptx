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79" r:id="rId6"/>
    <p:sldId id="270" r:id="rId7"/>
    <p:sldId id="269" r:id="rId8"/>
    <p:sldId id="271" r:id="rId9"/>
    <p:sldId id="272" r:id="rId10"/>
    <p:sldId id="273" r:id="rId11"/>
    <p:sldId id="274" r:id="rId12"/>
    <p:sldId id="275" r:id="rId13"/>
    <p:sldId id="280" r:id="rId14"/>
    <p:sldId id="276" r:id="rId15"/>
    <p:sldId id="277" r:id="rId16"/>
    <p:sldId id="278" r:id="rId17"/>
    <p:sldId id="268"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84833"/>
  </p:normalViewPr>
  <p:slideViewPr>
    <p:cSldViewPr snapToGrid="0">
      <p:cViewPr>
        <p:scale>
          <a:sx n="81" d="100"/>
          <a:sy n="81" d="100"/>
        </p:scale>
        <p:origin x="2664" y="8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4/24/26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4/24/26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The objective of this study is to </a:t>
            </a:r>
            <a:r>
              <a:rPr lang="en-IN" b="0" i="0" u="none" strike="noStrike" dirty="0" err="1">
                <a:solidFill>
                  <a:srgbClr val="FFFFFF"/>
                </a:solidFill>
                <a:effectLst/>
                <a:latin typeface="-webkit-standard"/>
              </a:rPr>
              <a:t>analyze</a:t>
            </a:r>
            <a:r>
              <a:rPr lang="en-IN" b="0" i="0" u="none" strike="noStrike" dirty="0">
                <a:solidFill>
                  <a:srgbClr val="FFFFFF"/>
                </a:solidFill>
                <a:effectLst/>
                <a:latin typeface="-webkit-standard"/>
              </a:rPr>
              <a:t> how microservices handle data consistency and system failures. I also compare different architectural strategies and identify research gaps in current approaches.</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2</a:t>
            </a:fld>
            <a:endParaRPr lang="en-US"/>
          </a:p>
        </p:txBody>
      </p:sp>
    </p:spTree>
    <p:extLst>
      <p:ext uri="{BB962C8B-B14F-4D97-AF65-F5344CB8AC3E}">
        <p14:creationId xmlns:p14="http://schemas.microsoft.com/office/powerpoint/2010/main" val="2956125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Microservices architecture breaks applications into small independent services. This improves scalability and flexibility, but because everything is distributed, managing data and failures becomes much more complex.</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3</a:t>
            </a:fld>
            <a:endParaRPr lang="en-US"/>
          </a:p>
        </p:txBody>
      </p:sp>
    </p:spTree>
    <p:extLst>
      <p:ext uri="{BB962C8B-B14F-4D97-AF65-F5344CB8AC3E}">
        <p14:creationId xmlns:p14="http://schemas.microsoft.com/office/powerpoint/2010/main" val="2779337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IN" b="0" i="0" u="none" strike="noStrike" dirty="0">
                <a:solidFill>
                  <a:srgbClr val="FFFFFF"/>
                </a:solidFill>
                <a:effectLst/>
                <a:latin typeface="-webkit-standard"/>
              </a:rPr>
              <a:t>he main problem is that there is no centralized control. So maintaining consistent data across services is difficult. At the same time, failures like network issues or service crashes are unavoidable, leading to trade-offs between consistency, availability, and fault tolerance.</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4</a:t>
            </a:fld>
            <a:endParaRPr lang="en-US"/>
          </a:p>
        </p:txBody>
      </p:sp>
    </p:spTree>
    <p:extLst>
      <p:ext uri="{BB962C8B-B14F-4D97-AF65-F5344CB8AC3E}">
        <p14:creationId xmlns:p14="http://schemas.microsoft.com/office/powerpoint/2010/main" val="1454095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To address this, I used a Systematic Literature Review approach, </a:t>
            </a:r>
            <a:r>
              <a:rPr lang="en-IN" b="0" i="0" u="none" strike="noStrike" dirty="0" err="1">
                <a:solidFill>
                  <a:srgbClr val="FFFFFF"/>
                </a:solidFill>
                <a:effectLst/>
                <a:latin typeface="-webkit-standard"/>
              </a:rPr>
              <a:t>analyzing</a:t>
            </a:r>
            <a:r>
              <a:rPr lang="en-IN" b="0" i="0" u="none" strike="noStrike" dirty="0">
                <a:solidFill>
                  <a:srgbClr val="FFFFFF"/>
                </a:solidFill>
                <a:effectLst/>
                <a:latin typeface="-webkit-standard"/>
              </a:rPr>
              <a:t> research papers from 2016 to 2026 across major academic databases. A structured filtering process ensured only relevant and high-quality studies were included.</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5</a:t>
            </a:fld>
            <a:endParaRPr lang="en-US"/>
          </a:p>
        </p:txBody>
      </p:sp>
    </p:spTree>
    <p:extLst>
      <p:ext uri="{BB962C8B-B14F-4D97-AF65-F5344CB8AC3E}">
        <p14:creationId xmlns:p14="http://schemas.microsoft.com/office/powerpoint/2010/main" val="3984718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In microservices, strong consistency reduces scalability. So most systems adopt eventual consistency, where temporary inconsistencies are allowed but resolved over time.</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6</a:t>
            </a:fld>
            <a:endParaRPr lang="en-US"/>
          </a:p>
        </p:txBody>
      </p:sp>
    </p:spTree>
    <p:extLst>
      <p:ext uri="{BB962C8B-B14F-4D97-AF65-F5344CB8AC3E}">
        <p14:creationId xmlns:p14="http://schemas.microsoft.com/office/powerpoint/2010/main" val="776863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Traditional Two-Phase Commit ensures consistency but blocks the system during failures. Saga pattern is more practical as it breaks transactions into smaller steps and uses compensating actions.</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7</a:t>
            </a:fld>
            <a:endParaRPr lang="en-US"/>
          </a:p>
        </p:txBody>
      </p:sp>
    </p:spTree>
    <p:extLst>
      <p:ext uri="{BB962C8B-B14F-4D97-AF65-F5344CB8AC3E}">
        <p14:creationId xmlns:p14="http://schemas.microsoft.com/office/powerpoint/2010/main" val="2610008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Failures in microservices are often partial, meaning some services fail while others continue. This can lead to cascading failures if not handled properly.</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8</a:t>
            </a:fld>
            <a:endParaRPr lang="en-US"/>
          </a:p>
        </p:txBody>
      </p:sp>
    </p:spTree>
    <p:extLst>
      <p:ext uri="{BB962C8B-B14F-4D97-AF65-F5344CB8AC3E}">
        <p14:creationId xmlns:p14="http://schemas.microsoft.com/office/powerpoint/2010/main" val="2820001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To handle failures, systems use design patterns like circuit breakers, retries, and replication. These prevent failures from spreading and improve system reliability.</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9</a:t>
            </a:fld>
            <a:endParaRPr lang="en-US"/>
          </a:p>
        </p:txBody>
      </p:sp>
    </p:spTree>
    <p:extLst>
      <p:ext uri="{BB962C8B-B14F-4D97-AF65-F5344CB8AC3E}">
        <p14:creationId xmlns:p14="http://schemas.microsoft.com/office/powerpoint/2010/main" val="2645820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This slide shows the main trade-offs.</a:t>
            </a:r>
            <a:br>
              <a:rPr lang="en-IN" dirty="0"/>
            </a:br>
            <a:r>
              <a:rPr lang="en-IN" b="0" i="0" u="none" strike="noStrike" dirty="0">
                <a:solidFill>
                  <a:srgbClr val="FFFFFF"/>
                </a:solidFill>
                <a:effectLst/>
                <a:latin typeface="-webkit-standard"/>
              </a:rPr>
              <a:t>Strong consistency keeps data correct all the time, but it slows things down. Eventual consistency is faster and more scalable, but data can be temporarily inconsistent.</a:t>
            </a:r>
            <a:br>
              <a:rPr lang="en-IN" dirty="0"/>
            </a:br>
            <a:r>
              <a:rPr lang="en-IN" b="0" i="0" u="none" strike="noStrike" dirty="0">
                <a:solidFill>
                  <a:srgbClr val="FFFFFF"/>
                </a:solidFill>
                <a:effectLst/>
                <a:latin typeface="-webkit-standard"/>
              </a:rPr>
              <a:t>Two-Phase Commit is reliable but not practical in distributed systems, while Saga is more flexible but a bit complex.</a:t>
            </a:r>
            <a:br>
              <a:rPr lang="en-IN" dirty="0"/>
            </a:br>
            <a:r>
              <a:rPr lang="en-IN" b="0" i="0" u="none" strike="noStrike" dirty="0">
                <a:solidFill>
                  <a:srgbClr val="FFFFFF"/>
                </a:solidFill>
                <a:effectLst/>
                <a:latin typeface="-webkit-standard"/>
              </a:rPr>
              <a:t>For handling failures, retries are simple but can make things worse, circuit breakers help stop failures from spreading, and replication improves availability but uses more resources.</a:t>
            </a:r>
            <a:br>
              <a:rPr lang="en-IN" dirty="0"/>
            </a:br>
            <a:r>
              <a:rPr lang="en-IN" b="0" i="0" u="none" strike="noStrike" dirty="0">
                <a:solidFill>
                  <a:srgbClr val="FFFFFF"/>
                </a:solidFill>
                <a:effectLst/>
                <a:latin typeface="-webkit-standard"/>
              </a:rPr>
              <a:t>So overall, there’s no perfect solution — systems usually combine different approaches based on their needs</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10</a:t>
            </a:fld>
            <a:endParaRPr lang="en-US"/>
          </a:p>
        </p:txBody>
      </p:sp>
    </p:spTree>
    <p:extLst>
      <p:ext uri="{BB962C8B-B14F-4D97-AF65-F5344CB8AC3E}">
        <p14:creationId xmlns:p14="http://schemas.microsoft.com/office/powerpoint/2010/main" val="361075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The key finding is that no single approach works best. Systems must balance trade-offs, and combining multiple techniques gives better results.</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11</a:t>
            </a:fld>
            <a:endParaRPr lang="en-US"/>
          </a:p>
        </p:txBody>
      </p:sp>
    </p:spTree>
    <p:extLst>
      <p:ext uri="{BB962C8B-B14F-4D97-AF65-F5344CB8AC3E}">
        <p14:creationId xmlns:p14="http://schemas.microsoft.com/office/powerpoint/2010/main" val="683210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In conclusion, microservices provide scalability but introduce complexity. Maintaining consistency and fault tolerance requires careful design, and decisions depend on system requirements.</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12</a:t>
            </a:fld>
            <a:endParaRPr lang="en-US"/>
          </a:p>
        </p:txBody>
      </p:sp>
    </p:spTree>
    <p:extLst>
      <p:ext uri="{BB962C8B-B14F-4D97-AF65-F5344CB8AC3E}">
        <p14:creationId xmlns:p14="http://schemas.microsoft.com/office/powerpoint/2010/main" val="3210229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solidFill>
                  <a:srgbClr val="FFFFFF"/>
                </a:solidFill>
                <a:effectLst/>
                <a:latin typeface="-webkit-standard"/>
              </a:rPr>
              <a:t>Future work can focus on developing standard evaluation frameworks, improving real-world validation, and using AI for fault prediction and self-healing systems.</a:t>
            </a:r>
            <a:endParaRPr lang="en-US"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13</a:t>
            </a:fld>
            <a:endParaRPr lang="en-US"/>
          </a:p>
        </p:txBody>
      </p:sp>
    </p:spTree>
    <p:extLst>
      <p:ext uri="{BB962C8B-B14F-4D97-AF65-F5344CB8AC3E}">
        <p14:creationId xmlns:p14="http://schemas.microsoft.com/office/powerpoint/2010/main" val="2727315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4/24/26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702365" y="840631"/>
            <a:ext cx="7712766" cy="5859107"/>
          </a:xfrm>
          <a:prstGeom prst="rect">
            <a:avLst/>
          </a:prstGeom>
          <a:noFill/>
          <a:ln w="9360">
            <a:noFill/>
          </a:ln>
        </p:spPr>
        <p:txBody>
          <a:bodyPr>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dirty="0">
                <a:latin typeface="Times New Roman" panose="02020603050405020304" pitchFamily="18" charset="0"/>
                <a:ea typeface="Calibri" panose="020F0502020204030204" pitchFamily="34" charset="0"/>
                <a:cs typeface="Times New Roman" panose="02020603050405020304" pitchFamily="18" charset="0"/>
              </a:rPr>
              <a:t>COOP-2 (22CS421)</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US" sz="3200" b="1" spc="-1" dirty="0">
                <a:latin typeface="Times New Roman" panose="02020603050405020304" pitchFamily="18" charset="0"/>
                <a:ea typeface="Calibri" panose="020F0502020204030204" pitchFamily="34" charset="0"/>
                <a:cs typeface="Times New Roman" panose="02020603050405020304" pitchFamily="18" charset="0"/>
              </a:rPr>
              <a:t>Challenges in Adopting Microservices Architecture: </a:t>
            </a:r>
            <a:r>
              <a:rPr lang="en-US" sz="3200" b="1" dirty="0">
                <a:latin typeface="Times New Roman" panose="02020603050405020304" pitchFamily="18" charset="0"/>
                <a:ea typeface="Calibri" pitchFamily="34" charset="-122"/>
                <a:cs typeface="Times New Roman" panose="02020603050405020304" pitchFamily="18" charset="0"/>
              </a:rPr>
              <a:t>A Systematic Review of Data Consistency and Fault Tolerance</a:t>
            </a:r>
            <a:endParaRPr lang="en-US" sz="3200" b="1" dirty="0">
              <a:latin typeface="Times New Roman" panose="02020603050405020304" pitchFamily="18" charset="0"/>
              <a:cs typeface="Times New Roman" panose="02020603050405020304" pitchFamily="18" charset="0"/>
            </a:endParaRPr>
          </a:p>
          <a:p>
            <a:pPr algn="ctr">
              <a:lnSpc>
                <a:spcPct val="100000"/>
              </a:lnSpc>
              <a:spcBef>
                <a:spcPts val="400"/>
              </a:spcBef>
            </a:pPr>
            <a:br>
              <a:rPr lang="en-US" sz="32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Devang Sethi</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2210991489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Dr. Rajat </a:t>
            </a:r>
            <a:r>
              <a:rPr lang="en-US" sz="2000" spc="-1" dirty="0" err="1">
                <a:latin typeface="Times New Roman" panose="02020603050405020304" pitchFamily="18" charset="0"/>
                <a:ea typeface="MS PGothic"/>
                <a:cs typeface="Times New Roman" panose="02020603050405020304" pitchFamily="18" charset="0"/>
              </a:rPr>
              <a:t>Takkar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6089C-C765-5082-B9C9-130D97406796}"/>
              </a:ext>
            </a:extLst>
          </p:cNvPr>
          <p:cNvSpPr>
            <a:spLocks noGrp="1"/>
          </p:cNvSpPr>
          <p:nvPr>
            <p:ph type="title"/>
          </p:nvPr>
        </p:nvSpPr>
        <p:spPr>
          <a:xfrm>
            <a:off x="220717" y="0"/>
            <a:ext cx="5265323" cy="914040"/>
          </a:xfrm>
        </p:spPr>
        <p:txBody>
          <a:bodyPr/>
          <a:lstStyle/>
          <a:p>
            <a:r>
              <a:rPr lang="en" sz="4400" dirty="0">
                <a:latin typeface="Times New Roman" panose="02020603050405020304" pitchFamily="18" charset="0"/>
                <a:cs typeface="Times New Roman" panose="02020603050405020304" pitchFamily="18" charset="0"/>
              </a:rPr>
              <a:t>Objective</a:t>
            </a:r>
            <a:endParaRPr lang="en-US" dirty="0"/>
          </a:p>
        </p:txBody>
      </p:sp>
      <p:sp>
        <p:nvSpPr>
          <p:cNvPr id="3" name="Subtitle 2">
            <a:extLst>
              <a:ext uri="{FF2B5EF4-FFF2-40B4-BE49-F238E27FC236}">
                <a16:creationId xmlns:a16="http://schemas.microsoft.com/office/drawing/2014/main" id="{99485FF7-E7A0-B02F-2C45-34F551AFF694}"/>
              </a:ext>
            </a:extLst>
          </p:cNvPr>
          <p:cNvSpPr>
            <a:spLocks noGrp="1"/>
          </p:cNvSpPr>
          <p:nvPr>
            <p:ph type="subTitle"/>
          </p:nvPr>
        </p:nvSpPr>
        <p:spPr/>
        <p:txBody>
          <a:bodyPr/>
          <a:lstStyle/>
          <a:p>
            <a:pPr marL="342900" indent="-342900">
              <a:lnSpc>
                <a:spcPct val="10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analyse key challenges in maintaining data consistency in distributed microservices systems</a:t>
            </a:r>
          </a:p>
          <a:p>
            <a:pPr marL="342900" indent="-342900">
              <a:lnSpc>
                <a:spcPct val="10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examine fault tolerance issues arising from service failures and network communication</a:t>
            </a:r>
          </a:p>
          <a:p>
            <a:pPr marL="342900" indent="-342900">
              <a:lnSpc>
                <a:spcPct val="10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evaluate different architectural strategies such as Saga pattern and distributed transactions</a:t>
            </a:r>
          </a:p>
          <a:p>
            <a:pPr marL="342900" indent="-342900">
              <a:lnSpc>
                <a:spcPct val="10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compare trade-offs between consistency, availability, and scalability</a:t>
            </a:r>
          </a:p>
          <a:p>
            <a:pPr marL="342900" indent="-342900">
              <a:lnSpc>
                <a:spcPct val="100000"/>
              </a:lnSpc>
              <a:spcBef>
                <a:spcPts val="4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identify research gaps and future directions in microservices architecture</a:t>
            </a:r>
          </a:p>
          <a:p>
            <a:pPr>
              <a:lnSpc>
                <a:spcPct val="100000"/>
              </a:lnSpc>
            </a:pPr>
            <a:endParaRPr lang="en-US" sz="2000" dirty="0"/>
          </a:p>
        </p:txBody>
      </p:sp>
    </p:spTree>
    <p:extLst>
      <p:ext uri="{BB962C8B-B14F-4D97-AF65-F5344CB8AC3E}">
        <p14:creationId xmlns:p14="http://schemas.microsoft.com/office/powerpoint/2010/main" val="3221406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82C66-E110-AD4D-E3F4-38A538C98FC1}"/>
              </a:ext>
            </a:extLst>
          </p:cNvPr>
          <p:cNvSpPr>
            <a:spLocks noGrp="1"/>
          </p:cNvSpPr>
          <p:nvPr>
            <p:ph type="title"/>
          </p:nvPr>
        </p:nvSpPr>
        <p:spPr>
          <a:xfrm>
            <a:off x="220716" y="0"/>
            <a:ext cx="6296815" cy="914040"/>
          </a:xfrm>
        </p:spPr>
        <p:txBody>
          <a:bodyPr/>
          <a:lstStyle/>
          <a:p>
            <a:pPr marL="460375" indent="-460375"/>
            <a:r>
              <a:rPr lang="en-IN" dirty="0">
                <a:latin typeface="Times New Roman" panose="02020603050405020304" pitchFamily="18" charset="0"/>
                <a:cs typeface="Times New Roman" panose="02020603050405020304" pitchFamily="18" charset="0"/>
              </a:rPr>
              <a:t>Background</a:t>
            </a:r>
          </a:p>
        </p:txBody>
      </p:sp>
      <p:sp>
        <p:nvSpPr>
          <p:cNvPr id="4" name="Subtitle 3">
            <a:extLst>
              <a:ext uri="{FF2B5EF4-FFF2-40B4-BE49-F238E27FC236}">
                <a16:creationId xmlns:a16="http://schemas.microsoft.com/office/drawing/2014/main" id="{597B29CD-163D-39F4-5DC3-0FCE58C14092}"/>
              </a:ext>
            </a:extLst>
          </p:cNvPr>
          <p:cNvSpPr>
            <a:spLocks noGrp="1"/>
          </p:cNvSpPr>
          <p:nvPr>
            <p:ph type="subTitle"/>
          </p:nvPr>
        </p:nvSpPr>
        <p:spPr/>
        <p:txBody>
          <a:bodyPr/>
          <a:lstStyle/>
          <a:p>
            <a:pPr>
              <a:lnSpc>
                <a:spcPct val="100000"/>
              </a:lnSpc>
            </a:pPr>
            <a:r>
              <a:rPr lang="en-IN" sz="2000" dirty="0">
                <a:latin typeface="Times New Roman" panose="02020603050405020304" pitchFamily="18" charset="0"/>
                <a:cs typeface="Times New Roman" panose="02020603050405020304" pitchFamily="18" charset="0"/>
              </a:rPr>
              <a:t>Microservices architecture is widely adopted for building scalable and cloud-native applications</a:t>
            </a:r>
          </a:p>
          <a:p>
            <a:pPr>
              <a:lnSpc>
                <a:spcPct val="100000"/>
              </a:lnSpc>
            </a:pPr>
            <a:r>
              <a:rPr lang="en-IN" sz="2000" dirty="0">
                <a:latin typeface="Times New Roman" panose="02020603050405020304" pitchFamily="18" charset="0"/>
                <a:cs typeface="Times New Roman" panose="02020603050405020304" pitchFamily="18" charset="0"/>
              </a:rPr>
              <a:t>Applications are decomposed into small, independently deployable services</a:t>
            </a:r>
          </a:p>
          <a:p>
            <a:pPr>
              <a:lnSpc>
                <a:spcPct val="100000"/>
              </a:lnSpc>
            </a:pPr>
            <a:r>
              <a:rPr lang="en-IN" sz="2000" dirty="0">
                <a:latin typeface="Times New Roman" panose="02020603050405020304" pitchFamily="18" charset="0"/>
                <a:cs typeface="Times New Roman" panose="02020603050405020304" pitchFamily="18" charset="0"/>
              </a:rPr>
              <a:t>Each service manages its own data and business logic</a:t>
            </a:r>
          </a:p>
          <a:p>
            <a:pPr>
              <a:lnSpc>
                <a:spcPct val="100000"/>
              </a:lnSpc>
            </a:pPr>
            <a:r>
              <a:rPr lang="en-IN" sz="2000" dirty="0">
                <a:latin typeface="Times New Roman" panose="02020603050405020304" pitchFamily="18" charset="0"/>
                <a:cs typeface="Times New Roman" panose="02020603050405020304" pitchFamily="18" charset="0"/>
              </a:rPr>
              <a:t>Improves flexibility, scalability, and faster development cycles</a:t>
            </a:r>
          </a:p>
          <a:p>
            <a:pPr>
              <a:lnSpc>
                <a:spcPct val="100000"/>
              </a:lnSpc>
            </a:pPr>
            <a:r>
              <a:rPr lang="en-IN" sz="2000" dirty="0">
                <a:latin typeface="Times New Roman" panose="02020603050405020304" pitchFamily="18" charset="0"/>
                <a:cs typeface="Times New Roman" panose="02020603050405020304" pitchFamily="18" charset="0"/>
              </a:rPr>
              <a:t>However, decentralization introduces challenges not present in monolithic systems</a:t>
            </a:r>
          </a:p>
          <a:p>
            <a:pPr>
              <a:lnSpc>
                <a:spcPct val="100000"/>
              </a:lnSpc>
            </a:pPr>
            <a:r>
              <a:rPr lang="en-IN" sz="2000" dirty="0">
                <a:latin typeface="Times New Roman" panose="02020603050405020304" pitchFamily="18" charset="0"/>
                <a:cs typeface="Times New Roman" panose="02020603050405020304" pitchFamily="18" charset="0"/>
              </a:rPr>
              <a:t>Particularly affects data consistency and system reliability</a:t>
            </a: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B2EE-CEEA-A4EC-4F3B-60BA601304FE}"/>
              </a:ext>
            </a:extLst>
          </p:cNvPr>
          <p:cNvSpPr>
            <a:spLocks noGrp="1"/>
          </p:cNvSpPr>
          <p:nvPr>
            <p:ph type="title"/>
          </p:nvPr>
        </p:nvSpPr>
        <p:spPr>
          <a:xfrm>
            <a:off x="220716" y="0"/>
            <a:ext cx="5265323" cy="914040"/>
          </a:xfrm>
        </p:spPr>
        <p:txBody>
          <a:bodyPr/>
          <a:lstStyle/>
          <a:p>
            <a:r>
              <a:rPr lang="en-IN" b="0" i="0" u="none" strike="noStrike" dirty="0">
                <a:effectLst/>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96048CCE-013F-C2C0-6658-BCFFDD901D75}"/>
              </a:ext>
            </a:extLst>
          </p:cNvPr>
          <p:cNvSpPr>
            <a:spLocks noGrp="1"/>
          </p:cNvSpPr>
          <p:nvPr>
            <p:ph type="subTitle"/>
          </p:nvPr>
        </p:nvSpPr>
        <p:spPr/>
        <p:txBody>
          <a:bodyPr/>
          <a:lstStyle/>
          <a:p>
            <a:pPr>
              <a:lnSpc>
                <a:spcPct val="1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Maintaining data consistency across multiple independent services is difficult</a:t>
            </a:r>
          </a:p>
          <a:p>
            <a:pPr>
              <a:lnSpc>
                <a:spcPct val="1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Distributed systems lack a centralized database for coordination</a:t>
            </a:r>
          </a:p>
          <a:p>
            <a:pPr>
              <a:lnSpc>
                <a:spcPct val="1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Failures such as network issues, service crashes, and latency are inevitable</a:t>
            </a:r>
          </a:p>
          <a:p>
            <a:pPr>
              <a:lnSpc>
                <a:spcPct val="1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These failures can lead to cascading system-wide issues</a:t>
            </a:r>
          </a:p>
          <a:p>
            <a:pPr>
              <a:lnSpc>
                <a:spcPct val="1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Trade-offs exist between:</a:t>
            </a:r>
          </a:p>
          <a:p>
            <a:pPr lvl="1">
              <a:lnSpc>
                <a:spcPct val="100000"/>
              </a:lnSpc>
            </a:pPr>
            <a:r>
              <a:rPr lang="en-IN" sz="2000" dirty="0">
                <a:latin typeface="Times New Roman" panose="02020603050405020304" pitchFamily="18" charset="0"/>
                <a:cs typeface="Times New Roman" panose="02020603050405020304" pitchFamily="18" charset="0"/>
              </a:rPr>
              <a:t>Strong consistency</a:t>
            </a:r>
          </a:p>
          <a:p>
            <a:pPr lvl="1">
              <a:lnSpc>
                <a:spcPct val="100000"/>
              </a:lnSpc>
            </a:pPr>
            <a:r>
              <a:rPr lang="en-IN" sz="2000" dirty="0">
                <a:latin typeface="Times New Roman" panose="02020603050405020304" pitchFamily="18" charset="0"/>
                <a:cs typeface="Times New Roman" panose="02020603050405020304" pitchFamily="18" charset="0"/>
              </a:rPr>
              <a:t>High availability</a:t>
            </a:r>
          </a:p>
          <a:p>
            <a:pPr lvl="1">
              <a:lnSpc>
                <a:spcPct val="100000"/>
              </a:lnSpc>
            </a:pPr>
            <a:r>
              <a:rPr lang="en-IN" sz="2000" dirty="0">
                <a:latin typeface="Times New Roman" panose="02020603050405020304" pitchFamily="18" charset="0"/>
                <a:cs typeface="Times New Roman" panose="02020603050405020304" pitchFamily="18" charset="0"/>
              </a:rPr>
              <a:t>Fault tolerance</a:t>
            </a:r>
          </a:p>
          <a:p>
            <a:pPr>
              <a:lnSpc>
                <a:spcPct val="100000"/>
              </a:lnSpc>
            </a:pPr>
            <a:r>
              <a:rPr lang="en-IN" sz="2000" dirty="0">
                <a:latin typeface="Times New Roman" panose="02020603050405020304" pitchFamily="18" charset="0"/>
                <a:cs typeface="Times New Roman" panose="02020603050405020304" pitchFamily="18" charset="0"/>
              </a:rPr>
              <a:t>No universally optimal solution exists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8233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E42F5-7742-F74D-97AA-F6A8AEE2F6E6}"/>
              </a:ext>
            </a:extLst>
          </p:cNvPr>
          <p:cNvSpPr>
            <a:spLocks noGrp="1"/>
          </p:cNvSpPr>
          <p:nvPr>
            <p:ph type="title"/>
          </p:nvPr>
        </p:nvSpPr>
        <p:spPr>
          <a:xfrm>
            <a:off x="220716" y="0"/>
            <a:ext cx="5265323" cy="914040"/>
          </a:xfrm>
        </p:spPr>
        <p:txBody>
          <a:bodyPr/>
          <a:lstStyle/>
          <a:p>
            <a:r>
              <a:rPr lang="en-IN" b="0" i="0" u="none" strike="noStrike" dirty="0">
                <a:effectLst/>
                <a:latin typeface="Times New Roman" panose="02020603050405020304" pitchFamily="18" charset="0"/>
                <a:cs typeface="Times New Roman" panose="02020603050405020304" pitchFamily="18" charset="0"/>
              </a:rPr>
              <a:t>Methodology</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E22E198-4AC4-F374-B581-416852D33790}"/>
              </a:ext>
            </a:extLst>
          </p:cNvPr>
          <p:cNvSpPr>
            <a:spLocks noGrp="1"/>
          </p:cNvSpPr>
          <p:nvPr>
            <p:ph type="subTitle"/>
          </p:nvPr>
        </p:nvSpPr>
        <p:spPr/>
        <p:txBody>
          <a:bodyPr/>
          <a:lstStyle/>
          <a:p>
            <a:pPr>
              <a:lnSpc>
                <a:spcPct val="1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Systematic Literature Review (SLR) approach was adopted</a:t>
            </a:r>
          </a:p>
          <a:p>
            <a:pPr>
              <a:lnSpc>
                <a:spcPct val="1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Research papers published between 2016 and 2026 were analysed</a:t>
            </a:r>
          </a:p>
          <a:p>
            <a:pPr>
              <a:lnSpc>
                <a:spcPct val="1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 sources included: </a:t>
            </a:r>
          </a:p>
          <a:p>
            <a:pPr lvl="1">
              <a:lnSpc>
                <a:spcPct val="100000"/>
              </a:lnSpc>
            </a:pPr>
            <a:r>
              <a:rPr lang="en-IN" sz="1800" dirty="0">
                <a:latin typeface="Times New Roman" panose="02020603050405020304" pitchFamily="18" charset="0"/>
                <a:cs typeface="Times New Roman" panose="02020603050405020304" pitchFamily="18" charset="0"/>
              </a:rPr>
              <a:t>IEEE Xplore</a:t>
            </a:r>
          </a:p>
          <a:p>
            <a:pPr lvl="1">
              <a:lnSpc>
                <a:spcPct val="100000"/>
              </a:lnSpc>
            </a:pPr>
            <a:r>
              <a:rPr lang="en-IN" sz="1800" dirty="0">
                <a:latin typeface="Times New Roman" panose="02020603050405020304" pitchFamily="18" charset="0"/>
                <a:cs typeface="Times New Roman" panose="02020603050405020304" pitchFamily="18" charset="0"/>
              </a:rPr>
              <a:t>ACM Digital Library</a:t>
            </a:r>
          </a:p>
          <a:p>
            <a:pPr lvl="1">
              <a:lnSpc>
                <a:spcPct val="100000"/>
              </a:lnSpc>
            </a:pPr>
            <a:r>
              <a:rPr lang="en-IN" sz="1800" dirty="0">
                <a:latin typeface="Times New Roman" panose="02020603050405020304" pitchFamily="18" charset="0"/>
                <a:cs typeface="Times New Roman" panose="02020603050405020304" pitchFamily="18" charset="0"/>
              </a:rPr>
              <a:t>SpringerLink</a:t>
            </a:r>
          </a:p>
          <a:p>
            <a:pPr lvl="1">
              <a:lnSpc>
                <a:spcPct val="100000"/>
              </a:lnSpc>
            </a:pPr>
            <a:r>
              <a:rPr lang="en-IN" sz="1800" dirty="0">
                <a:latin typeface="Times New Roman" panose="02020603050405020304" pitchFamily="18" charset="0"/>
                <a:cs typeface="Times New Roman" panose="02020603050405020304" pitchFamily="18" charset="0"/>
              </a:rPr>
              <a:t>ScienceDirect</a:t>
            </a:r>
          </a:p>
          <a:p>
            <a:pPr lvl="1">
              <a:lnSpc>
                <a:spcPct val="100000"/>
              </a:lnSpc>
            </a:pPr>
            <a:r>
              <a:rPr lang="en-IN" sz="1800" dirty="0">
                <a:latin typeface="Times New Roman" panose="02020603050405020304" pitchFamily="18" charset="0"/>
                <a:cs typeface="Times New Roman" panose="02020603050405020304" pitchFamily="18" charset="0"/>
              </a:rPr>
              <a:t>Google Scholar and arXiv</a:t>
            </a:r>
          </a:p>
          <a:p>
            <a:pPr>
              <a:lnSpc>
                <a:spcPct val="100000"/>
              </a:lnSpc>
            </a:pPr>
            <a:r>
              <a:rPr lang="en-IN" sz="2000" dirty="0">
                <a:latin typeface="Times New Roman" panose="02020603050405020304" pitchFamily="18" charset="0"/>
                <a:cs typeface="Times New Roman" panose="02020603050405020304" pitchFamily="18" charset="0"/>
              </a:rPr>
              <a:t>Keyword-based search strategy was used (microservices, consistency, fault tolerance, etc.)</a:t>
            </a:r>
          </a:p>
          <a:p>
            <a:pPr>
              <a:lnSpc>
                <a:spcPct val="100000"/>
              </a:lnSpc>
            </a:pPr>
            <a:r>
              <a:rPr lang="en-IN" sz="2000" dirty="0">
                <a:latin typeface="Times New Roman" panose="02020603050405020304" pitchFamily="18" charset="0"/>
                <a:cs typeface="Times New Roman" panose="02020603050405020304" pitchFamily="18" charset="0"/>
              </a:rPr>
              <a:t>Inclusion and exclusion criteria ensured relevance and quality</a:t>
            </a:r>
          </a:p>
          <a:p>
            <a:pPr>
              <a:lnSpc>
                <a:spcPct val="100000"/>
              </a:lnSpc>
            </a:pPr>
            <a:r>
              <a:rPr lang="en-IN" sz="2000" dirty="0">
                <a:latin typeface="Times New Roman" panose="02020603050405020304" pitchFamily="18" charset="0"/>
                <a:cs typeface="Times New Roman" panose="02020603050405020304" pitchFamily="18" charset="0"/>
              </a:rPr>
              <a:t>PRISMA-inspired filtering process applied</a:t>
            </a:r>
          </a:p>
          <a:p>
            <a:pPr>
              <a:lnSpc>
                <a:spcPct val="100000"/>
              </a:lnSpc>
            </a:pPr>
            <a:r>
              <a:rPr lang="en-IN" sz="2000" dirty="0">
                <a:latin typeface="Times New Roman" panose="02020603050405020304" pitchFamily="18" charset="0"/>
                <a:cs typeface="Times New Roman" panose="02020603050405020304" pitchFamily="18" charset="0"/>
              </a:rPr>
              <a:t>Final studies were qualitatively analysed to identify patterns and insights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328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2FE13-BFB7-C2F4-FBFD-03AF581F6E71}"/>
              </a:ext>
            </a:extLst>
          </p:cNvPr>
          <p:cNvSpPr>
            <a:spLocks noGrp="1"/>
          </p:cNvSpPr>
          <p:nvPr>
            <p:ph type="title"/>
          </p:nvPr>
        </p:nvSpPr>
        <p:spPr>
          <a:xfrm>
            <a:off x="220716" y="0"/>
            <a:ext cx="6569189" cy="914040"/>
          </a:xfrm>
        </p:spPr>
        <p:txBody>
          <a:bodyPr/>
          <a:lstStyle/>
          <a:p>
            <a:r>
              <a:rPr lang="en-IN" b="0" i="0" u="none" strike="noStrike" dirty="0">
                <a:effectLst/>
                <a:latin typeface="Times New Roman" panose="02020603050405020304" pitchFamily="18" charset="0"/>
                <a:cs typeface="Times New Roman" panose="02020603050405020304" pitchFamily="18" charset="0"/>
              </a:rPr>
              <a:t>Data Consistency Findings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2453053-234A-64BB-1110-AC5CDB450EE0}"/>
              </a:ext>
            </a:extLst>
          </p:cNvPr>
          <p:cNvSpPr>
            <a:spLocks noGrp="1"/>
          </p:cNvSpPr>
          <p:nvPr>
            <p:ph type="subTitle"/>
          </p:nvPr>
        </p:nvSpPr>
        <p:spPr/>
        <p:txBody>
          <a:bodyPr/>
          <a:lstStyle/>
          <a:p>
            <a:pPr>
              <a:lnSpc>
                <a:spcPct val="100000"/>
              </a:lnSpc>
            </a:pPr>
            <a:r>
              <a:rPr lang="en-IN" sz="2000" dirty="0">
                <a:latin typeface="Times New Roman" panose="02020603050405020304" pitchFamily="18" charset="0"/>
                <a:cs typeface="Times New Roman" panose="02020603050405020304" pitchFamily="18" charset="0"/>
              </a:rPr>
              <a:t>Microservices promote decentralized data ownership, making global consistency difficult</a:t>
            </a:r>
          </a:p>
          <a:p>
            <a:pPr>
              <a:lnSpc>
                <a:spcPct val="100000"/>
              </a:lnSpc>
            </a:pPr>
            <a:r>
              <a:rPr lang="en-IN" sz="2000" dirty="0">
                <a:latin typeface="Times New Roman" panose="02020603050405020304" pitchFamily="18" charset="0"/>
                <a:cs typeface="Times New Roman" panose="02020603050405020304" pitchFamily="18" charset="0"/>
              </a:rPr>
              <a:t>Strong consistency ensures correctness but reduces system scalability and availability</a:t>
            </a:r>
          </a:p>
          <a:p>
            <a:pPr>
              <a:lnSpc>
                <a:spcPct val="100000"/>
              </a:lnSpc>
            </a:pPr>
            <a:r>
              <a:rPr lang="en-IN" sz="2000" dirty="0">
                <a:latin typeface="Times New Roman" panose="02020603050405020304" pitchFamily="18" charset="0"/>
                <a:cs typeface="Times New Roman" panose="02020603050405020304" pitchFamily="18" charset="0"/>
              </a:rPr>
              <a:t>Eventual consistency is widely adopted in modern systems</a:t>
            </a:r>
          </a:p>
          <a:p>
            <a:pPr>
              <a:lnSpc>
                <a:spcPct val="100000"/>
              </a:lnSpc>
            </a:pPr>
            <a:r>
              <a:rPr lang="en-IN" sz="2000" dirty="0">
                <a:latin typeface="Times New Roman" panose="02020603050405020304" pitchFamily="18" charset="0"/>
                <a:cs typeface="Times New Roman" panose="02020603050405020304" pitchFamily="18" charset="0"/>
              </a:rPr>
              <a:t>BASE model is preferred over traditional ACID transactions</a:t>
            </a:r>
          </a:p>
          <a:p>
            <a:pPr>
              <a:lnSpc>
                <a:spcPct val="100000"/>
              </a:lnSpc>
            </a:pPr>
            <a:r>
              <a:rPr lang="en-IN" sz="2000" dirty="0">
                <a:latin typeface="Times New Roman" panose="02020603050405020304" pitchFamily="18" charset="0"/>
                <a:cs typeface="Times New Roman" panose="02020603050405020304" pitchFamily="18" charset="0"/>
              </a:rPr>
              <a:t>Eventual consistency introduces issues like stale reads and write conflicts</a:t>
            </a:r>
          </a:p>
          <a:p>
            <a:pPr>
              <a:lnSpc>
                <a:spcPct val="100000"/>
              </a:lnSpc>
            </a:pPr>
            <a:r>
              <a:rPr lang="en-IN" sz="2000" dirty="0">
                <a:latin typeface="Times New Roman" panose="02020603050405020304" pitchFamily="18" charset="0"/>
                <a:cs typeface="Times New Roman" panose="02020603050405020304" pitchFamily="18" charset="0"/>
              </a:rPr>
              <a:t>Developers must handle inconsistencies at the application level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9398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702C-FD16-F0E0-FCB9-BF6036555066}"/>
              </a:ext>
            </a:extLst>
          </p:cNvPr>
          <p:cNvSpPr>
            <a:spLocks noGrp="1"/>
          </p:cNvSpPr>
          <p:nvPr>
            <p:ph type="title"/>
          </p:nvPr>
        </p:nvSpPr>
        <p:spPr>
          <a:xfrm>
            <a:off x="220716" y="0"/>
            <a:ext cx="7717053" cy="914040"/>
          </a:xfrm>
        </p:spPr>
        <p:txBody>
          <a:bodyPr/>
          <a:lstStyle/>
          <a:p>
            <a:r>
              <a:rPr lang="en-IN" b="0" i="0" u="none" strike="noStrike" dirty="0">
                <a:effectLst/>
                <a:latin typeface="Times New Roman" panose="02020603050405020304" pitchFamily="18" charset="0"/>
                <a:cs typeface="Times New Roman" panose="02020603050405020304" pitchFamily="18" charset="0"/>
              </a:rPr>
              <a:t>Transaction Management</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A1ECE93-B813-F1F7-6635-E357EEEE97AF}"/>
              </a:ext>
            </a:extLst>
          </p:cNvPr>
          <p:cNvSpPr>
            <a:spLocks noGrp="1"/>
          </p:cNvSpPr>
          <p:nvPr>
            <p:ph type="subTitle"/>
          </p:nvPr>
        </p:nvSpPr>
        <p:spPr/>
        <p:txBody>
          <a:bodyPr/>
          <a:lstStyle/>
          <a:p>
            <a:pPr>
              <a:lnSpc>
                <a:spcPct val="100000"/>
              </a:lnSpc>
            </a:pPr>
            <a:r>
              <a:rPr lang="en-US" sz="2000" dirty="0">
                <a:latin typeface="Times New Roman" panose="02020603050405020304" pitchFamily="18" charset="0"/>
                <a:cs typeface="Times New Roman" panose="02020603050405020304" pitchFamily="18" charset="0"/>
              </a:rPr>
              <a:t>Two-Phase Commit (2PC):</a:t>
            </a:r>
          </a:p>
          <a:p>
            <a:pPr lvl="1">
              <a:lnSpc>
                <a:spcPct val="100000"/>
              </a:lnSpc>
            </a:pPr>
            <a:r>
              <a:rPr lang="en-US" sz="1800" dirty="0">
                <a:latin typeface="Times New Roman" panose="02020603050405020304" pitchFamily="18" charset="0"/>
                <a:cs typeface="Times New Roman" panose="02020603050405020304" pitchFamily="18" charset="0"/>
              </a:rPr>
              <a:t>Ensures strong consistency and atomic transactions</a:t>
            </a:r>
          </a:p>
          <a:p>
            <a:pPr lvl="1">
              <a:lnSpc>
                <a:spcPct val="100000"/>
              </a:lnSpc>
            </a:pPr>
            <a:r>
              <a:rPr lang="en-US" sz="1800" dirty="0">
                <a:latin typeface="Times New Roman" panose="02020603050405020304" pitchFamily="18" charset="0"/>
                <a:cs typeface="Times New Roman" panose="02020603050405020304" pitchFamily="18" charset="0"/>
              </a:rPr>
              <a:t>Blocking in nature and sensitive to failures</a:t>
            </a:r>
          </a:p>
          <a:p>
            <a:pPr lvl="1">
              <a:lnSpc>
                <a:spcPct val="100000"/>
              </a:lnSpc>
            </a:pPr>
            <a:r>
              <a:rPr lang="en-US" sz="1800" dirty="0">
                <a:latin typeface="Times New Roman" panose="02020603050405020304" pitchFamily="18" charset="0"/>
                <a:cs typeface="Times New Roman" panose="02020603050405020304" pitchFamily="18" charset="0"/>
              </a:rPr>
              <a:t>Reduces system availability in distributed environments</a:t>
            </a:r>
          </a:p>
          <a:p>
            <a:pPr>
              <a:lnSpc>
                <a:spcPct val="100000"/>
              </a:lnSpc>
            </a:pPr>
            <a:r>
              <a:rPr lang="en-US" sz="2000" dirty="0">
                <a:latin typeface="Times New Roman" panose="02020603050405020304" pitchFamily="18" charset="0"/>
                <a:cs typeface="Times New Roman" panose="02020603050405020304" pitchFamily="18" charset="0"/>
              </a:rPr>
              <a:t>Saga Pattern:</a:t>
            </a:r>
          </a:p>
          <a:p>
            <a:pPr lvl="1">
              <a:lnSpc>
                <a:spcPct val="100000"/>
              </a:lnSpc>
            </a:pPr>
            <a:r>
              <a:rPr lang="en-US" sz="1800" dirty="0">
                <a:latin typeface="Times New Roman" panose="02020603050405020304" pitchFamily="18" charset="0"/>
                <a:cs typeface="Times New Roman" panose="02020603050405020304" pitchFamily="18" charset="0"/>
              </a:rPr>
              <a:t>Breaks transactions into smaller local operations</a:t>
            </a:r>
          </a:p>
          <a:p>
            <a:pPr lvl="1">
              <a:lnSpc>
                <a:spcPct val="100000"/>
              </a:lnSpc>
            </a:pPr>
            <a:r>
              <a:rPr lang="en-US" sz="1800" dirty="0">
                <a:latin typeface="Times New Roman" panose="02020603050405020304" pitchFamily="18" charset="0"/>
                <a:cs typeface="Times New Roman" panose="02020603050405020304" pitchFamily="18" charset="0"/>
              </a:rPr>
              <a:t>Uses compensating actions for rollback</a:t>
            </a:r>
          </a:p>
          <a:p>
            <a:pPr lvl="1">
              <a:lnSpc>
                <a:spcPct val="100000"/>
              </a:lnSpc>
            </a:pPr>
            <a:r>
              <a:rPr lang="en-US" sz="1800" dirty="0">
                <a:latin typeface="Times New Roman" panose="02020603050405020304" pitchFamily="18" charset="0"/>
                <a:cs typeface="Times New Roman" panose="02020603050405020304" pitchFamily="18" charset="0"/>
              </a:rPr>
              <a:t>Improves fault tolerance and scalability</a:t>
            </a:r>
          </a:p>
          <a:p>
            <a:pPr lvl="1">
              <a:lnSpc>
                <a:spcPct val="100000"/>
              </a:lnSpc>
            </a:pPr>
            <a:r>
              <a:rPr lang="en-US" sz="1800" dirty="0">
                <a:latin typeface="Times New Roman" panose="02020603050405020304" pitchFamily="18" charset="0"/>
                <a:cs typeface="Times New Roman" panose="02020603050405020304" pitchFamily="18" charset="0"/>
              </a:rPr>
              <a:t>Introduces higher implementation complexity</a:t>
            </a:r>
          </a:p>
          <a:p>
            <a:pPr>
              <a:lnSpc>
                <a:spcPct val="1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2824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83DA0-4C9A-FE0B-4DA8-CFC77073DD44}"/>
              </a:ext>
            </a:extLst>
          </p:cNvPr>
          <p:cNvSpPr>
            <a:spLocks noGrp="1"/>
          </p:cNvSpPr>
          <p:nvPr>
            <p:ph type="title"/>
          </p:nvPr>
        </p:nvSpPr>
        <p:spPr>
          <a:xfrm>
            <a:off x="220717" y="0"/>
            <a:ext cx="8008521" cy="914040"/>
          </a:xfrm>
        </p:spPr>
        <p:txBody>
          <a:bodyPr/>
          <a:lstStyle/>
          <a:p>
            <a:r>
              <a:rPr lang="en-IN" b="0" i="0" u="none" strike="noStrike" dirty="0">
                <a:effectLst/>
                <a:latin typeface="Times New Roman" panose="02020603050405020304" pitchFamily="18" charset="0"/>
                <a:cs typeface="Times New Roman" panose="02020603050405020304" pitchFamily="18" charset="0"/>
              </a:rPr>
              <a:t>Fault Tolerance Challenges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5A6F200-2365-D0B7-1C0B-0E0FEC258FAD}"/>
              </a:ext>
            </a:extLst>
          </p:cNvPr>
          <p:cNvSpPr>
            <a:spLocks noGrp="1"/>
          </p:cNvSpPr>
          <p:nvPr>
            <p:ph type="subTitle"/>
          </p:nvPr>
        </p:nvSpPr>
        <p:spPr/>
        <p:txBody>
          <a:bodyPr/>
          <a:lstStyle/>
          <a:p>
            <a:pPr>
              <a:lnSpc>
                <a:spcPct val="100000"/>
              </a:lnSpc>
            </a:pPr>
            <a:r>
              <a:rPr lang="en-US" sz="2000" dirty="0">
                <a:latin typeface="Times New Roman" panose="02020603050405020304" pitchFamily="18" charset="0"/>
                <a:cs typeface="Times New Roman" panose="02020603050405020304" pitchFamily="18" charset="0"/>
              </a:rPr>
              <a:t>Partial failures occur when some services fail while others continue</a:t>
            </a:r>
          </a:p>
          <a:p>
            <a:pPr>
              <a:lnSpc>
                <a:spcPct val="100000"/>
              </a:lnSpc>
            </a:pPr>
            <a:r>
              <a:rPr lang="en-US" sz="2000" dirty="0">
                <a:latin typeface="Times New Roman" panose="02020603050405020304" pitchFamily="18" charset="0"/>
                <a:cs typeface="Times New Roman" panose="02020603050405020304" pitchFamily="18" charset="0"/>
              </a:rPr>
              <a:t>Network communication introduces latency and transient failures</a:t>
            </a:r>
          </a:p>
          <a:p>
            <a:pPr>
              <a:lnSpc>
                <a:spcPct val="100000"/>
              </a:lnSpc>
            </a:pPr>
            <a:r>
              <a:rPr lang="en-US" sz="2000" dirty="0">
                <a:latin typeface="Times New Roman" panose="02020603050405020304" pitchFamily="18" charset="0"/>
                <a:cs typeface="Times New Roman" panose="02020603050405020304" pitchFamily="18" charset="0"/>
              </a:rPr>
              <a:t>Cascading failures can occur due to service dependencies</a:t>
            </a:r>
          </a:p>
          <a:p>
            <a:pPr>
              <a:lnSpc>
                <a:spcPct val="100000"/>
              </a:lnSpc>
            </a:pPr>
            <a:r>
              <a:rPr lang="en-US" sz="2000" dirty="0">
                <a:latin typeface="Times New Roman" panose="02020603050405020304" pitchFamily="18" charset="0"/>
                <a:cs typeface="Times New Roman" panose="02020603050405020304" pitchFamily="18" charset="0"/>
              </a:rPr>
              <a:t>Retry mechanisms can sometimes worsen system overload</a:t>
            </a:r>
          </a:p>
          <a:p>
            <a:pPr>
              <a:lnSpc>
                <a:spcPct val="100000"/>
              </a:lnSpc>
            </a:pPr>
            <a:r>
              <a:rPr lang="en-US" sz="2000" dirty="0">
                <a:latin typeface="Times New Roman" panose="02020603050405020304" pitchFamily="18" charset="0"/>
                <a:cs typeface="Times New Roman" panose="02020603050405020304" pitchFamily="18" charset="0"/>
              </a:rPr>
              <a:t>Increasing system size makes dependency management complex</a:t>
            </a:r>
          </a:p>
          <a:p>
            <a:pPr>
              <a:lnSpc>
                <a:spcPct val="1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1910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7B2D-B684-C729-570C-89F2CE9ADE7B}"/>
              </a:ext>
            </a:extLst>
          </p:cNvPr>
          <p:cNvSpPr>
            <a:spLocks noGrp="1"/>
          </p:cNvSpPr>
          <p:nvPr>
            <p:ph type="title"/>
          </p:nvPr>
        </p:nvSpPr>
        <p:spPr>
          <a:xfrm>
            <a:off x="31526" y="15766"/>
            <a:ext cx="6605752" cy="914040"/>
          </a:xfrm>
        </p:spPr>
        <p:txBody>
          <a:bodyPr/>
          <a:lstStyle/>
          <a:p>
            <a:r>
              <a:rPr lang="en-IN" b="0" i="0" u="none" strike="noStrike" dirty="0">
                <a:effectLst/>
                <a:latin typeface="Times New Roman" panose="02020603050405020304" pitchFamily="18" charset="0"/>
                <a:cs typeface="Times New Roman" panose="02020603050405020304" pitchFamily="18" charset="0"/>
              </a:rPr>
              <a:t>Fault Tolerance Mechanisms </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23B9ED2-C13A-A4E6-1FD9-75706069434A}"/>
              </a:ext>
            </a:extLst>
          </p:cNvPr>
          <p:cNvSpPr>
            <a:spLocks noGrp="1"/>
          </p:cNvSpPr>
          <p:nvPr>
            <p:ph type="subTitle"/>
          </p:nvPr>
        </p:nvSpPr>
        <p:spPr/>
        <p:txBody>
          <a:bodyPr/>
          <a:lstStyle/>
          <a:p>
            <a:pPr>
              <a:lnSpc>
                <a:spcPct val="100000"/>
              </a:lnSpc>
            </a:pPr>
            <a:r>
              <a:rPr lang="en-IN" sz="2000" dirty="0">
                <a:latin typeface="Times New Roman" panose="02020603050405020304" pitchFamily="18" charset="0"/>
                <a:cs typeface="Times New Roman" panose="02020603050405020304" pitchFamily="18" charset="0"/>
              </a:rPr>
              <a:t>Circuit Breaker pattern prevents repeated calls to failing services</a:t>
            </a:r>
          </a:p>
          <a:p>
            <a:pPr>
              <a:lnSpc>
                <a:spcPct val="100000"/>
              </a:lnSpc>
            </a:pPr>
            <a:r>
              <a:rPr lang="en-IN" sz="2000" dirty="0">
                <a:latin typeface="Times New Roman" panose="02020603050405020304" pitchFamily="18" charset="0"/>
                <a:cs typeface="Times New Roman" panose="02020603050405020304" pitchFamily="18" charset="0"/>
              </a:rPr>
              <a:t>Retry and timeout mechanisms handle temporary failures</a:t>
            </a:r>
          </a:p>
          <a:p>
            <a:pPr>
              <a:lnSpc>
                <a:spcPct val="100000"/>
              </a:lnSpc>
            </a:pPr>
            <a:r>
              <a:rPr lang="en-IN" sz="2000" dirty="0">
                <a:latin typeface="Times New Roman" panose="02020603050405020304" pitchFamily="18" charset="0"/>
                <a:cs typeface="Times New Roman" panose="02020603050405020304" pitchFamily="18" charset="0"/>
              </a:rPr>
              <a:t>Service replication improves availability and load distribution</a:t>
            </a:r>
          </a:p>
          <a:p>
            <a:pPr>
              <a:lnSpc>
                <a:spcPct val="100000"/>
              </a:lnSpc>
            </a:pPr>
            <a:r>
              <a:rPr lang="en-IN" sz="2000" dirty="0">
                <a:latin typeface="Times New Roman" panose="02020603050405020304" pitchFamily="18" charset="0"/>
                <a:cs typeface="Times New Roman" panose="02020603050405020304" pitchFamily="18" charset="0"/>
              </a:rPr>
              <a:t>Asynchronous communication reduces tight coupling between services</a:t>
            </a:r>
          </a:p>
          <a:p>
            <a:pPr>
              <a:lnSpc>
                <a:spcPct val="100000"/>
              </a:lnSpc>
            </a:pPr>
            <a:r>
              <a:rPr lang="en-IN" sz="2000" dirty="0">
                <a:latin typeface="Times New Roman" panose="02020603050405020304" pitchFamily="18" charset="0"/>
                <a:cs typeface="Times New Roman" panose="02020603050405020304" pitchFamily="18" charset="0"/>
              </a:rPr>
              <a:t>Monitoring and health checks improve system resilience</a:t>
            </a:r>
          </a:p>
          <a:p>
            <a:pPr>
              <a:lnSpc>
                <a:spcPct val="100000"/>
              </a:lnSpc>
            </a:pPr>
            <a:r>
              <a:rPr lang="en-IN" sz="2000" dirty="0">
                <a:latin typeface="Times New Roman" panose="02020603050405020304" pitchFamily="18" charset="0"/>
                <a:cs typeface="Times New Roman" panose="02020603050405020304" pitchFamily="18" charset="0"/>
              </a:rPr>
              <a:t>Combination of multiple mechanisms provides better fault handling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4020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9BE00-7A97-BB3B-20D9-DD17A5C36D3F}"/>
              </a:ext>
            </a:extLst>
          </p:cNvPr>
          <p:cNvSpPr>
            <a:spLocks noGrp="1"/>
          </p:cNvSpPr>
          <p:nvPr>
            <p:ph type="title"/>
          </p:nvPr>
        </p:nvSpPr>
        <p:spPr>
          <a:xfrm>
            <a:off x="220716" y="0"/>
            <a:ext cx="5422981" cy="914040"/>
          </a:xfrm>
        </p:spPr>
        <p:txBody>
          <a:bodyPr/>
          <a:lstStyle/>
          <a:p>
            <a:r>
              <a:rPr lang="en-IN" dirty="0"/>
              <a:t>Comparative Analysis</a:t>
            </a:r>
            <a:endParaRPr lang="en-US" dirty="0"/>
          </a:p>
        </p:txBody>
      </p:sp>
      <p:sp>
        <p:nvSpPr>
          <p:cNvPr id="6" name="Rectangle 1">
            <a:extLst>
              <a:ext uri="{FF2B5EF4-FFF2-40B4-BE49-F238E27FC236}">
                <a16:creationId xmlns:a16="http://schemas.microsoft.com/office/drawing/2014/main" id="{8AA56013-5D37-C57E-6258-A29E932E4DD1}"/>
              </a:ext>
            </a:extLst>
          </p:cNvPr>
          <p:cNvSpPr>
            <a:spLocks noChangeArrowheads="1"/>
          </p:cNvSpPr>
          <p:nvPr/>
        </p:nvSpPr>
        <p:spPr bwMode="auto">
          <a:xfrm>
            <a:off x="4890869" y="15110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Table 10">
            <a:extLst>
              <a:ext uri="{FF2B5EF4-FFF2-40B4-BE49-F238E27FC236}">
                <a16:creationId xmlns:a16="http://schemas.microsoft.com/office/drawing/2014/main" id="{24F7719D-CB6B-754A-CA11-0AC6ED7435D0}"/>
              </a:ext>
            </a:extLst>
          </p:cNvPr>
          <p:cNvGraphicFramePr>
            <a:graphicFrameLocks noGrp="1"/>
          </p:cNvGraphicFramePr>
          <p:nvPr>
            <p:extLst>
              <p:ext uri="{D42A27DB-BD31-4B8C-83A1-F6EECF244321}">
                <p14:modId xmlns:p14="http://schemas.microsoft.com/office/powerpoint/2010/main" val="3105581437"/>
              </p:ext>
            </p:extLst>
          </p:nvPr>
        </p:nvGraphicFramePr>
        <p:xfrm>
          <a:off x="315319" y="950963"/>
          <a:ext cx="3972907" cy="5465604"/>
        </p:xfrm>
        <a:graphic>
          <a:graphicData uri="http://schemas.openxmlformats.org/drawingml/2006/table">
            <a:tbl>
              <a:tblPr firstRow="1" firstCol="1" bandRow="1">
                <a:tableStyleId>{5C22544A-7EE6-4342-B048-85BDC9FD1C3A}</a:tableStyleId>
              </a:tblPr>
              <a:tblGrid>
                <a:gridCol w="1323757">
                  <a:extLst>
                    <a:ext uri="{9D8B030D-6E8A-4147-A177-3AD203B41FA5}">
                      <a16:colId xmlns:a16="http://schemas.microsoft.com/office/drawing/2014/main" val="3812601047"/>
                    </a:ext>
                  </a:extLst>
                </a:gridCol>
                <a:gridCol w="1324575">
                  <a:extLst>
                    <a:ext uri="{9D8B030D-6E8A-4147-A177-3AD203B41FA5}">
                      <a16:colId xmlns:a16="http://schemas.microsoft.com/office/drawing/2014/main" val="999660990"/>
                    </a:ext>
                  </a:extLst>
                </a:gridCol>
                <a:gridCol w="1324575">
                  <a:extLst>
                    <a:ext uri="{9D8B030D-6E8A-4147-A177-3AD203B41FA5}">
                      <a16:colId xmlns:a16="http://schemas.microsoft.com/office/drawing/2014/main" val="3648622337"/>
                    </a:ext>
                  </a:extLst>
                </a:gridCol>
              </a:tblGrid>
              <a:tr h="910934">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Aspect</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Strong Consistency</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Eventual Consistency</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4141905040"/>
                  </a:ext>
                </a:extLst>
              </a:tr>
              <a:tr h="910934">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Data correctness</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Immediate</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Temporary inconsistencies</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3690716467"/>
                  </a:ext>
                </a:extLst>
              </a:tr>
              <a:tr h="910934">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Availability</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Lower</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Higher</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3596033618"/>
                  </a:ext>
                </a:extLst>
              </a:tr>
              <a:tr h="910934">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Scalability</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Limited</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High</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2562283386"/>
                  </a:ext>
                </a:extLst>
              </a:tr>
              <a:tr h="910934">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Fault tolerance</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Weaker under failures</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Better resilience</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494588929"/>
                  </a:ext>
                </a:extLst>
              </a:tr>
              <a:tr h="910934">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Implementation complexity</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High (coordination required)</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High (application-level handling)</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2023755300"/>
                  </a:ext>
                </a:extLst>
              </a:tr>
            </a:tbl>
          </a:graphicData>
        </a:graphic>
      </p:graphicFrame>
      <p:graphicFrame>
        <p:nvGraphicFramePr>
          <p:cNvPr id="12" name="Table 11">
            <a:extLst>
              <a:ext uri="{FF2B5EF4-FFF2-40B4-BE49-F238E27FC236}">
                <a16:creationId xmlns:a16="http://schemas.microsoft.com/office/drawing/2014/main" id="{4B2AB816-DD76-A88D-1C93-266E68B5582B}"/>
              </a:ext>
            </a:extLst>
          </p:cNvPr>
          <p:cNvGraphicFramePr>
            <a:graphicFrameLocks noGrp="1"/>
          </p:cNvGraphicFramePr>
          <p:nvPr>
            <p:extLst>
              <p:ext uri="{D42A27DB-BD31-4B8C-83A1-F6EECF244321}">
                <p14:modId xmlns:p14="http://schemas.microsoft.com/office/powerpoint/2010/main" val="1574252529"/>
              </p:ext>
            </p:extLst>
          </p:nvPr>
        </p:nvGraphicFramePr>
        <p:xfrm>
          <a:off x="4572000" y="950963"/>
          <a:ext cx="4382812" cy="2478036"/>
        </p:xfrm>
        <a:graphic>
          <a:graphicData uri="http://schemas.openxmlformats.org/drawingml/2006/table">
            <a:tbl>
              <a:tblPr firstRow="1" firstCol="1" bandRow="1">
                <a:tableStyleId>{5C22544A-7EE6-4342-B048-85BDC9FD1C3A}</a:tableStyleId>
              </a:tblPr>
              <a:tblGrid>
                <a:gridCol w="1460336">
                  <a:extLst>
                    <a:ext uri="{9D8B030D-6E8A-4147-A177-3AD203B41FA5}">
                      <a16:colId xmlns:a16="http://schemas.microsoft.com/office/drawing/2014/main" val="759599429"/>
                    </a:ext>
                  </a:extLst>
                </a:gridCol>
                <a:gridCol w="1461238">
                  <a:extLst>
                    <a:ext uri="{9D8B030D-6E8A-4147-A177-3AD203B41FA5}">
                      <a16:colId xmlns:a16="http://schemas.microsoft.com/office/drawing/2014/main" val="3106607896"/>
                    </a:ext>
                  </a:extLst>
                </a:gridCol>
                <a:gridCol w="1461238">
                  <a:extLst>
                    <a:ext uri="{9D8B030D-6E8A-4147-A177-3AD203B41FA5}">
                      <a16:colId xmlns:a16="http://schemas.microsoft.com/office/drawing/2014/main" val="4120565319"/>
                    </a:ext>
                  </a:extLst>
                </a:gridCol>
              </a:tblGrid>
              <a:tr h="826012">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Transaction Model</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Advantages</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Limitations</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3259879841"/>
                  </a:ext>
                </a:extLst>
              </a:tr>
              <a:tr h="826012">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Two-Phase Commit (2PC)</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Atomicity guarantees</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Blocking, failure-prone</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857059132"/>
                  </a:ext>
                </a:extLst>
              </a:tr>
              <a:tr h="826012">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Saga Pattern</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Fault-tolerant, scalable</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Complex compensation logic</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2689162707"/>
                  </a:ext>
                </a:extLst>
              </a:tr>
            </a:tbl>
          </a:graphicData>
        </a:graphic>
      </p:graphicFrame>
      <p:graphicFrame>
        <p:nvGraphicFramePr>
          <p:cNvPr id="13" name="Table 12">
            <a:extLst>
              <a:ext uri="{FF2B5EF4-FFF2-40B4-BE49-F238E27FC236}">
                <a16:creationId xmlns:a16="http://schemas.microsoft.com/office/drawing/2014/main" id="{31914C82-1D03-A674-81E8-BA65A6F9A833}"/>
              </a:ext>
            </a:extLst>
          </p:cNvPr>
          <p:cNvGraphicFramePr>
            <a:graphicFrameLocks noGrp="1"/>
          </p:cNvGraphicFramePr>
          <p:nvPr>
            <p:extLst>
              <p:ext uri="{D42A27DB-BD31-4B8C-83A1-F6EECF244321}">
                <p14:modId xmlns:p14="http://schemas.microsoft.com/office/powerpoint/2010/main" val="261639683"/>
              </p:ext>
            </p:extLst>
          </p:nvPr>
        </p:nvGraphicFramePr>
        <p:xfrm>
          <a:off x="4565915" y="3859698"/>
          <a:ext cx="4382811" cy="2510037"/>
        </p:xfrm>
        <a:graphic>
          <a:graphicData uri="http://schemas.openxmlformats.org/drawingml/2006/table">
            <a:tbl>
              <a:tblPr firstRow="1" firstCol="1" bandRow="1">
                <a:tableStyleId>{5C22544A-7EE6-4342-B048-85BDC9FD1C3A}</a:tableStyleId>
              </a:tblPr>
              <a:tblGrid>
                <a:gridCol w="1460335">
                  <a:extLst>
                    <a:ext uri="{9D8B030D-6E8A-4147-A177-3AD203B41FA5}">
                      <a16:colId xmlns:a16="http://schemas.microsoft.com/office/drawing/2014/main" val="1693464949"/>
                    </a:ext>
                  </a:extLst>
                </a:gridCol>
                <a:gridCol w="1461238">
                  <a:extLst>
                    <a:ext uri="{9D8B030D-6E8A-4147-A177-3AD203B41FA5}">
                      <a16:colId xmlns:a16="http://schemas.microsoft.com/office/drawing/2014/main" val="2121836911"/>
                    </a:ext>
                  </a:extLst>
                </a:gridCol>
                <a:gridCol w="1461238">
                  <a:extLst>
                    <a:ext uri="{9D8B030D-6E8A-4147-A177-3AD203B41FA5}">
                      <a16:colId xmlns:a16="http://schemas.microsoft.com/office/drawing/2014/main" val="1210822853"/>
                    </a:ext>
                  </a:extLst>
                </a:gridCol>
              </a:tblGrid>
              <a:tr h="619509">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Fault Tolerance Technique</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Strengths</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Weaknesses</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4289842527"/>
                  </a:ext>
                </a:extLst>
              </a:tr>
              <a:tr h="619509">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Retries &amp; Timeouts</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Simple</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Can amplify failures</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3493644944"/>
                  </a:ext>
                </a:extLst>
              </a:tr>
              <a:tr h="619509">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Circuit Breakers</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Prevent cascading failures</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Configuration overhead</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433440438"/>
                  </a:ext>
                </a:extLst>
              </a:tr>
              <a:tr h="619509">
                <a:tc>
                  <a:txBody>
                    <a:bodyPr/>
                    <a:lstStyle/>
                    <a:p>
                      <a:pPr algn="ctr">
                        <a:lnSpc>
                          <a:spcPct val="95000"/>
                        </a:lnSpc>
                        <a:spcAft>
                          <a:spcPts val="600"/>
                        </a:spcAft>
                      </a:pPr>
                      <a:r>
                        <a:rPr lang="en-US" sz="1500">
                          <a:ln>
                            <a:noFill/>
                          </a:ln>
                          <a:effectLst/>
                          <a:latin typeface="Times New Roman" panose="02020603050405020304" pitchFamily="18" charset="0"/>
                          <a:cs typeface="Times New Roman" panose="02020603050405020304" pitchFamily="18" charset="0"/>
                        </a:rPr>
                        <a:t>Replication</a:t>
                      </a:r>
                      <a:endParaRPr lang="en-IN" sz="150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High availability</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tc>
                  <a:txBody>
                    <a:bodyPr/>
                    <a:lstStyle/>
                    <a:p>
                      <a:pPr algn="ctr">
                        <a:lnSpc>
                          <a:spcPct val="95000"/>
                        </a:lnSpc>
                        <a:spcAft>
                          <a:spcPts val="600"/>
                        </a:spcAft>
                      </a:pPr>
                      <a:r>
                        <a:rPr lang="en-US" sz="1500" dirty="0">
                          <a:ln>
                            <a:noFill/>
                          </a:ln>
                          <a:effectLst/>
                          <a:latin typeface="Times New Roman" panose="02020603050405020304" pitchFamily="18" charset="0"/>
                          <a:cs typeface="Times New Roman" panose="02020603050405020304" pitchFamily="18" charset="0"/>
                        </a:rPr>
                        <a:t>Resource cost</a:t>
                      </a:r>
                      <a:endParaRPr lang="en-IN" sz="1500" dirty="0">
                        <a:ln>
                          <a:noFill/>
                        </a:ln>
                        <a:solidFill>
                          <a:srgbClr val="000000"/>
                        </a:solidFill>
                        <a:effectLst/>
                        <a:latin typeface="Times New Roman" panose="02020603050405020304" pitchFamily="18" charset="0"/>
                        <a:ea typeface="Arial Unicode MS" panose="020B0604020202020204" pitchFamily="34" charset="-128"/>
                        <a:cs typeface="Times New Roman" panose="02020603050405020304" pitchFamily="18" charset="0"/>
                      </a:endParaRPr>
                    </a:p>
                  </a:txBody>
                  <a:tcPr marL="68580" marR="68580" marT="0" marB="0"/>
                </a:tc>
                <a:extLst>
                  <a:ext uri="{0D108BD9-81ED-4DB2-BD59-A6C34878D82A}">
                    <a16:rowId xmlns:a16="http://schemas.microsoft.com/office/drawing/2014/main" val="3565981737"/>
                  </a:ext>
                </a:extLst>
              </a:tr>
            </a:tbl>
          </a:graphicData>
        </a:graphic>
      </p:graphicFrame>
      <p:sp>
        <p:nvSpPr>
          <p:cNvPr id="14" name="Rectangle 2">
            <a:extLst>
              <a:ext uri="{FF2B5EF4-FFF2-40B4-BE49-F238E27FC236}">
                <a16:creationId xmlns:a16="http://schemas.microsoft.com/office/drawing/2014/main" id="{19173139-9E59-8C2C-57C8-7FE71ACB0263}"/>
              </a:ext>
            </a:extLst>
          </p:cNvPr>
          <p:cNvSpPr>
            <a:spLocks noChangeArrowheads="1"/>
          </p:cNvSpPr>
          <p:nvPr/>
        </p:nvSpPr>
        <p:spPr bwMode="auto">
          <a:xfrm>
            <a:off x="3944580" y="542024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861144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E14FA-7742-C48F-7434-73DE1F1EA0D5}"/>
              </a:ext>
            </a:extLst>
          </p:cNvPr>
          <p:cNvSpPr>
            <a:spLocks noGrp="1"/>
          </p:cNvSpPr>
          <p:nvPr>
            <p:ph type="title"/>
          </p:nvPr>
        </p:nvSpPr>
        <p:spPr>
          <a:xfrm>
            <a:off x="220716" y="0"/>
            <a:ext cx="5265323" cy="914040"/>
          </a:xfrm>
        </p:spPr>
        <p:txBody>
          <a:bodyPr/>
          <a:lstStyle/>
          <a:p>
            <a:r>
              <a:rPr lang="en-IN" b="0" i="0" u="none" strike="noStrike" dirty="0">
                <a:effectLst/>
                <a:latin typeface="Times New Roman" panose="02020603050405020304" pitchFamily="18" charset="0"/>
                <a:cs typeface="Times New Roman" panose="02020603050405020304" pitchFamily="18" charset="0"/>
              </a:rPr>
              <a:t>Key Findings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418FFD5-0978-1DF6-1944-ADD4B06BE82C}"/>
              </a:ext>
            </a:extLst>
          </p:cNvPr>
          <p:cNvSpPr>
            <a:spLocks noGrp="1"/>
          </p:cNvSpPr>
          <p:nvPr>
            <p:ph type="subTitle"/>
          </p:nvPr>
        </p:nvSpPr>
        <p:spPr/>
        <p:txBody>
          <a:bodyPr/>
          <a:lstStyle/>
          <a:p>
            <a:pPr>
              <a:lnSpc>
                <a:spcPct val="100000"/>
              </a:lnSpc>
            </a:pPr>
            <a:r>
              <a:rPr lang="en-US" sz="2000" dirty="0">
                <a:latin typeface="Times New Roman" panose="02020603050405020304" pitchFamily="18" charset="0"/>
                <a:cs typeface="Times New Roman" panose="02020603050405020304" pitchFamily="18" charset="0"/>
              </a:rPr>
              <a:t>Eventual consistency is preferred in large-scale microservices systems</a:t>
            </a:r>
          </a:p>
          <a:p>
            <a:pPr>
              <a:lnSpc>
                <a:spcPct val="100000"/>
              </a:lnSpc>
            </a:pPr>
            <a:r>
              <a:rPr lang="en-US" sz="2000" dirty="0">
                <a:latin typeface="Times New Roman" panose="02020603050405020304" pitchFamily="18" charset="0"/>
                <a:cs typeface="Times New Roman" panose="02020603050405020304" pitchFamily="18" charset="0"/>
              </a:rPr>
              <a:t>Saga pattern is more practical than Two-Phase Commit</a:t>
            </a:r>
          </a:p>
          <a:p>
            <a:pPr>
              <a:lnSpc>
                <a:spcPct val="100000"/>
              </a:lnSpc>
            </a:pPr>
            <a:r>
              <a:rPr lang="en-US" sz="2000" dirty="0">
                <a:latin typeface="Times New Roman" panose="02020603050405020304" pitchFamily="18" charset="0"/>
                <a:cs typeface="Times New Roman" panose="02020603050405020304" pitchFamily="18" charset="0"/>
              </a:rPr>
              <a:t>Circuit breakers are effective in preventing cascading failures</a:t>
            </a:r>
          </a:p>
          <a:p>
            <a:pPr>
              <a:lnSpc>
                <a:spcPct val="100000"/>
              </a:lnSpc>
            </a:pPr>
            <a:r>
              <a:rPr lang="en-US" sz="2000" dirty="0">
                <a:latin typeface="Times New Roman" panose="02020603050405020304" pitchFamily="18" charset="0"/>
                <a:cs typeface="Times New Roman" panose="02020603050405020304" pitchFamily="18" charset="0"/>
              </a:rPr>
              <a:t>Combining multiple resilience patterns improves reliability</a:t>
            </a:r>
          </a:p>
          <a:p>
            <a:pPr>
              <a:lnSpc>
                <a:spcPct val="100000"/>
              </a:lnSpc>
            </a:pPr>
            <a:r>
              <a:rPr lang="en-US" sz="2000" dirty="0">
                <a:latin typeface="Times New Roman" panose="02020603050405020304" pitchFamily="18" charset="0"/>
                <a:cs typeface="Times New Roman" panose="02020603050405020304" pitchFamily="18" charset="0"/>
              </a:rPr>
              <a:t>Trade-offs between consistency, availability, and fault tolerance are unavoidable</a:t>
            </a:r>
          </a:p>
          <a:p>
            <a:pPr>
              <a:lnSpc>
                <a:spcPct val="100000"/>
              </a:lnSpc>
            </a:pPr>
            <a:r>
              <a:rPr lang="en-US" sz="2000" dirty="0">
                <a:latin typeface="Times New Roman" panose="02020603050405020304" pitchFamily="18" charset="0"/>
                <a:cs typeface="Times New Roman" panose="02020603050405020304" pitchFamily="18" charset="0"/>
              </a:rPr>
              <a:t>System design decisions depend on specific use-case requirements</a:t>
            </a:r>
          </a:p>
          <a:p>
            <a:pPr>
              <a:lnSpc>
                <a:spcPct val="1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06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4F4F5-2FF4-146B-7DAB-B2B8574B9F5D}"/>
              </a:ext>
            </a:extLst>
          </p:cNvPr>
          <p:cNvSpPr>
            <a:spLocks noGrp="1"/>
          </p:cNvSpPr>
          <p:nvPr>
            <p:ph type="title"/>
          </p:nvPr>
        </p:nvSpPr>
        <p:spPr>
          <a:xfrm>
            <a:off x="220716" y="0"/>
            <a:ext cx="5265323" cy="914040"/>
          </a:xfrm>
        </p:spPr>
        <p:txBody>
          <a:bodyPr/>
          <a:lstStyle/>
          <a:p>
            <a:r>
              <a:rPr lang="en-IN" b="0" i="0" u="none" strike="noStrike" dirty="0">
                <a:effectLst/>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D7FE84B-2BC0-96C0-4387-CF461D12FAA4}"/>
              </a:ext>
            </a:extLst>
          </p:cNvPr>
          <p:cNvSpPr>
            <a:spLocks noGrp="1"/>
          </p:cNvSpPr>
          <p:nvPr>
            <p:ph type="subTitle"/>
          </p:nvPr>
        </p:nvSpPr>
        <p:spPr/>
        <p:txBody>
          <a:bodyPr/>
          <a:lstStyle/>
          <a:p>
            <a:pPr>
              <a:lnSpc>
                <a:spcPct val="100000"/>
              </a:lnSpc>
            </a:pPr>
            <a:r>
              <a:rPr lang="en-IN" sz="2000" dirty="0">
                <a:latin typeface="Times New Roman" panose="02020603050405020304" pitchFamily="18" charset="0"/>
                <a:cs typeface="Times New Roman" panose="02020603050405020304" pitchFamily="18" charset="0"/>
              </a:rPr>
              <a:t>Microservices architecture provides scalability and flexibility but introduces complexity</a:t>
            </a:r>
          </a:p>
          <a:p>
            <a:pPr>
              <a:lnSpc>
                <a:spcPct val="100000"/>
              </a:lnSpc>
            </a:pPr>
            <a:r>
              <a:rPr lang="en-IN" sz="2000" dirty="0">
                <a:latin typeface="Times New Roman" panose="02020603050405020304" pitchFamily="18" charset="0"/>
                <a:cs typeface="Times New Roman" panose="02020603050405020304" pitchFamily="18" charset="0"/>
              </a:rPr>
              <a:t>Maintaining data consistency in distributed systems remains a major challenge</a:t>
            </a:r>
          </a:p>
          <a:p>
            <a:pPr>
              <a:lnSpc>
                <a:spcPct val="100000"/>
              </a:lnSpc>
            </a:pPr>
            <a:r>
              <a:rPr lang="en-IN" sz="2000" dirty="0">
                <a:latin typeface="Times New Roman" panose="02020603050405020304" pitchFamily="18" charset="0"/>
                <a:cs typeface="Times New Roman" panose="02020603050405020304" pitchFamily="18" charset="0"/>
              </a:rPr>
              <a:t>Fault tolerance is essential to prevent system-wide failures</a:t>
            </a:r>
          </a:p>
          <a:p>
            <a:pPr>
              <a:lnSpc>
                <a:spcPct val="100000"/>
              </a:lnSpc>
            </a:pPr>
            <a:r>
              <a:rPr lang="en-IN" sz="2000" dirty="0">
                <a:latin typeface="Times New Roman" panose="02020603050405020304" pitchFamily="18" charset="0"/>
                <a:cs typeface="Times New Roman" panose="02020603050405020304" pitchFamily="18" charset="0"/>
              </a:rPr>
              <a:t>No single approach can optimize all system requirements</a:t>
            </a:r>
          </a:p>
          <a:p>
            <a:pPr>
              <a:lnSpc>
                <a:spcPct val="100000"/>
              </a:lnSpc>
            </a:pPr>
            <a:r>
              <a:rPr lang="en-IN" sz="2000" dirty="0">
                <a:latin typeface="Times New Roman" panose="02020603050405020304" pitchFamily="18" charset="0"/>
                <a:cs typeface="Times New Roman" panose="02020603050405020304" pitchFamily="18" charset="0"/>
              </a:rPr>
              <a:t>Effective architectures rely on a combination of strategies</a:t>
            </a:r>
          </a:p>
          <a:p>
            <a:pPr>
              <a:lnSpc>
                <a:spcPct val="100000"/>
              </a:lnSpc>
            </a:pPr>
            <a:r>
              <a:rPr lang="en-IN" sz="2000" dirty="0">
                <a:latin typeface="Times New Roman" panose="02020603050405020304" pitchFamily="18" charset="0"/>
                <a:cs typeface="Times New Roman" panose="02020603050405020304" pitchFamily="18" charset="0"/>
              </a:rPr>
              <a:t>Design decisions must balance consistency, availability, and scalability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0071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5BD46-BC58-3939-6F93-EA139496CE49}"/>
              </a:ext>
            </a:extLst>
          </p:cNvPr>
          <p:cNvSpPr>
            <a:spLocks noGrp="1"/>
          </p:cNvSpPr>
          <p:nvPr>
            <p:ph type="title"/>
          </p:nvPr>
        </p:nvSpPr>
        <p:spPr>
          <a:xfrm>
            <a:off x="220717" y="0"/>
            <a:ext cx="6277359" cy="914040"/>
          </a:xfrm>
        </p:spPr>
        <p:txBody>
          <a:bodyPr/>
          <a:lstStyle/>
          <a:p>
            <a:r>
              <a:rPr lang="en-IN" b="0" i="0" u="none" strike="noStrike" dirty="0">
                <a:effectLst/>
                <a:latin typeface="Times New Roman" panose="02020603050405020304" pitchFamily="18" charset="0"/>
                <a:cs typeface="Times New Roman" panose="02020603050405020304" pitchFamily="18" charset="0"/>
              </a:rPr>
              <a:t>Future Scope</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B6E2476-8762-1A8F-A6EA-B8BDD97A246F}"/>
              </a:ext>
            </a:extLst>
          </p:cNvPr>
          <p:cNvSpPr>
            <a:spLocks noGrp="1"/>
          </p:cNvSpPr>
          <p:nvPr>
            <p:ph type="subTitle"/>
          </p:nvPr>
        </p:nvSpPr>
        <p:spPr/>
        <p:txBody>
          <a:bodyPr/>
          <a:lstStyle/>
          <a:p>
            <a:pPr>
              <a:lnSpc>
                <a:spcPct val="100000"/>
              </a:lnSpc>
            </a:pPr>
            <a:r>
              <a:rPr lang="en-US" sz="2000" dirty="0">
                <a:latin typeface="Times New Roman" panose="02020603050405020304" pitchFamily="18" charset="0"/>
                <a:cs typeface="Times New Roman" panose="02020603050405020304" pitchFamily="18" charset="0"/>
              </a:rPr>
              <a:t>Development of standardized frameworks for evaluating consistency and fault tolerance</a:t>
            </a:r>
          </a:p>
          <a:p>
            <a:pPr>
              <a:lnSpc>
                <a:spcPct val="100000"/>
              </a:lnSpc>
            </a:pPr>
            <a:r>
              <a:rPr lang="en-US" sz="2000" dirty="0">
                <a:latin typeface="Times New Roman" panose="02020603050405020304" pitchFamily="18" charset="0"/>
                <a:cs typeface="Times New Roman" panose="02020603050405020304" pitchFamily="18" charset="0"/>
              </a:rPr>
              <a:t>Increased focus on real-world implementation and validation</a:t>
            </a:r>
          </a:p>
          <a:p>
            <a:pPr>
              <a:lnSpc>
                <a:spcPct val="100000"/>
              </a:lnSpc>
            </a:pPr>
            <a:r>
              <a:rPr lang="en-US" sz="2000" dirty="0">
                <a:latin typeface="Times New Roman" panose="02020603050405020304" pitchFamily="18" charset="0"/>
                <a:cs typeface="Times New Roman" panose="02020603050405020304" pitchFamily="18" charset="0"/>
              </a:rPr>
              <a:t>Reducing complexity of distributed transaction management</a:t>
            </a:r>
          </a:p>
          <a:p>
            <a:pPr>
              <a:lnSpc>
                <a:spcPct val="100000"/>
              </a:lnSpc>
            </a:pPr>
            <a:r>
              <a:rPr lang="en-US" sz="2000" dirty="0">
                <a:latin typeface="Times New Roman" panose="02020603050405020304" pitchFamily="18" charset="0"/>
                <a:cs typeface="Times New Roman" panose="02020603050405020304" pitchFamily="18" charset="0"/>
              </a:rPr>
              <a:t>Exploring AI-based fault prediction and automated recovery systems</a:t>
            </a:r>
          </a:p>
          <a:p>
            <a:pPr>
              <a:lnSpc>
                <a:spcPct val="100000"/>
              </a:lnSpc>
            </a:pPr>
            <a:r>
              <a:rPr lang="en-US" sz="2000" dirty="0">
                <a:latin typeface="Times New Roman" panose="02020603050405020304" pitchFamily="18" charset="0"/>
                <a:cs typeface="Times New Roman" panose="02020603050405020304" pitchFamily="18" charset="0"/>
              </a:rPr>
              <a:t>Advancements in self-healing microservices architectures</a:t>
            </a:r>
          </a:p>
          <a:p>
            <a:pPr>
              <a:lnSpc>
                <a:spcPct val="1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2017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a:latin typeface="Times New Roman"/>
            </a:endParaRPr>
          </a:p>
        </p:txBody>
      </p:sp>
      <p:sp>
        <p:nvSpPr>
          <p:cNvPr id="2" name="TextBox 1">
            <a:extLst>
              <a:ext uri="{FF2B5EF4-FFF2-40B4-BE49-F238E27FC236}">
                <a16:creationId xmlns:a16="http://schemas.microsoft.com/office/drawing/2014/main" id="{39722F30-1A98-5FEF-DE6E-E259C37E6540}"/>
              </a:ext>
            </a:extLst>
          </p:cNvPr>
          <p:cNvSpPr txBox="1"/>
          <p:nvPr/>
        </p:nvSpPr>
        <p:spPr>
          <a:xfrm>
            <a:off x="0" y="6356520"/>
            <a:ext cx="3752193" cy="338554"/>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References available in the submitted paper</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34781</TotalTime>
  <Words>1346</Words>
  <Application>Microsoft Macintosh PowerPoint</Application>
  <PresentationFormat>On-screen Show (4:3)</PresentationFormat>
  <Paragraphs>178</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-webkit-standard</vt:lpstr>
      <vt:lpstr>Arial</vt:lpstr>
      <vt:lpstr>Calibri</vt:lpstr>
      <vt:lpstr>Times New Roman</vt:lpstr>
      <vt:lpstr>Office Theme</vt:lpstr>
      <vt:lpstr>PowerPoint Presentation</vt:lpstr>
      <vt:lpstr>Objective</vt:lpstr>
      <vt:lpstr>Background</vt:lpstr>
      <vt:lpstr>Problem Statement</vt:lpstr>
      <vt:lpstr>Methodology</vt:lpstr>
      <vt:lpstr>Data Consistency Findings</vt:lpstr>
      <vt:lpstr>Transaction Management</vt:lpstr>
      <vt:lpstr>Fault Tolerance Challenges</vt:lpstr>
      <vt:lpstr>Fault Tolerance Mechanisms </vt:lpstr>
      <vt:lpstr>Comparative Analysis</vt:lpstr>
      <vt:lpstr>Key Findings</vt:lpstr>
      <vt:lpstr>Conclusion</vt:lpstr>
      <vt:lpstr>Future Scope</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Devang sethi</cp:lastModifiedBy>
  <cp:revision>2301</cp:revision>
  <cp:lastPrinted>2026-04-24T10:29:51Z</cp:lastPrinted>
  <dcterms:created xsi:type="dcterms:W3CDTF">2010-04-09T07:36:15Z</dcterms:created>
  <dcterms:modified xsi:type="dcterms:W3CDTF">2026-04-24T11:02:57Z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